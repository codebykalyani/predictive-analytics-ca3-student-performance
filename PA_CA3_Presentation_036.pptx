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about predicting a student's performance score from simple daily habits, and I followed the KDD process step by step to do it. I used two regression models and compared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target is a number between 0 and 100, so it is regression. The five inputs are shown in the boxes. Since I do not have a real college dataset, I created 1,000 records with code. I also put in some missing values and outliers deliberately so that the cleaning step has something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KDD has five stages and my notebook is organised in exactly this order. The model is only stage 4. Most of the effort goes into getting the data right before and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 is used because it is not pulled by extreme values. I capped outliers rather than removing them since 1,000 rows is not a huge dataset. About scaling: k-NN is not in my final two models, but it is the standard example for why scaling matters, so I mention it. For my models scaling makes the linear regression coefficients comparable, and it does not hurt Random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picked one simple model and one stronger model so the comparison is meaningful. Cross-validation splits the training data into 5 parts, trains on 4 and checks on 1, and repeats. That tells us the model is stable and not just lucky.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MAE is the average absolute error, RMSE punishes big errors more, and R2 is the share of variation the model explains. The two models are almost tied. My data is mostly linear by design, so the simple model does nearly as well as the forest. In practice that means extra complexity did not buy much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residual plot is the check that the model is not hiding a pattern in its mistakes. A flat random band is what we want. To finish: Random Forest wins narrowly, but the main learning is that following the full KDD process matters more than the choice of model.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548640" y="1874520"/>
            <a:ext cx="1097280" cy="64008"/>
          </a:xfrm>
          <a:prstGeom prst="rect">
            <a:avLst/>
          </a:prstGeom>
          <a:solidFill>
            <a:srgbClr val="2A9D8F"/>
          </a:solidFill>
          <a:ln w="12700">
            <a:solidFill>
              <a:srgbClr val="2A9D8F"/>
            </a:solidFill>
            <a:prstDash val="solid"/>
          </a:ln>
        </p:spPr>
      </p:sp>
      <p:sp>
        <p:nvSpPr>
          <p:cNvPr id="3" name="Text 1"/>
          <p:cNvSpPr txBox="1"/>
          <p:nvPr/>
        </p:nvSpPr>
        <p:spPr>
          <a:xfrm>
            <a:off x="548640" y="822960"/>
            <a:ext cx="8046720" cy="1005840"/>
          </a:xfrm>
          <a:prstGeom prst="rect">
            <a:avLst/>
          </a:prstGeom>
          <a:noFill/>
          <a:ln/>
        </p:spPr>
        <p:txBody>
          <a:bodyPr wrap="square" lIns="0" tIns="0" rIns="0" bIns="0" rtlCol="0" anchor="b"/>
          <a:lstStyle/>
          <a:p>
            <a:pPr indent="0" marL="0">
              <a:buNone/>
            </a:pPr>
            <a:r>
              <a:rPr lang="en-US" sz="3400" b="1" dirty="0">
                <a:solidFill>
                  <a:srgbClr val="FFFFFF"/>
                </a:solidFill>
                <a:latin typeface="Calibri" pitchFamily="34" charset="0"/>
                <a:ea typeface="Calibri" pitchFamily="34" charset="-122"/>
                <a:cs typeface="Calibri" pitchFamily="34" charset="-120"/>
              </a:rPr>
              <a:t>Predicting Student Academic Performance</a:t>
            </a:r>
            <a:endParaRPr lang="en-US" sz="3400" dirty="0"/>
          </a:p>
        </p:txBody>
      </p:sp>
      <p:sp>
        <p:nvSpPr>
          <p:cNvPr id="4" name="Text 2"/>
          <p:cNvSpPr txBox="1"/>
          <p:nvPr/>
        </p:nvSpPr>
        <p:spPr>
          <a:xfrm>
            <a:off x="548640" y="2103120"/>
            <a:ext cx="8046720" cy="457200"/>
          </a:xfrm>
          <a:prstGeom prst="rect">
            <a:avLst/>
          </a:prstGeom>
          <a:noFill/>
          <a:ln/>
        </p:spPr>
        <p:txBody>
          <a:bodyPr wrap="square" lIns="0" tIns="0" rIns="0" bIns="0" rtlCol="0" anchor="ctr"/>
          <a:lstStyle/>
          <a:p>
            <a:pPr indent="0" marL="0">
              <a:buNone/>
            </a:pPr>
            <a:r>
              <a:rPr lang="en-US" sz="1800" dirty="0">
                <a:solidFill>
                  <a:srgbClr val="CFE3EA"/>
                </a:solidFill>
                <a:latin typeface="Calibri" pitchFamily="34" charset="0"/>
                <a:ea typeface="Calibri" pitchFamily="34" charset="-122"/>
                <a:cs typeface="Calibri" pitchFamily="34" charset="-120"/>
              </a:rPr>
              <a:t>using the KDD framework and machine learning regression</a:t>
            </a:r>
            <a:endParaRPr lang="en-US" sz="1800" dirty="0"/>
          </a:p>
        </p:txBody>
      </p:sp>
      <p:sp>
        <p:nvSpPr>
          <p:cNvPr id="5" name="Text 3"/>
          <p:cNvSpPr txBox="1"/>
          <p:nvPr/>
        </p:nvSpPr>
        <p:spPr>
          <a:xfrm>
            <a:off x="548640" y="3200400"/>
            <a:ext cx="8046720" cy="1097280"/>
          </a:xfrm>
          <a:prstGeom prst="rect">
            <a:avLst/>
          </a:prstGeom>
          <a:noFill/>
          <a:ln/>
        </p:spPr>
        <p:txBody>
          <a:bodyPr wrap="square" lIns="0" tIns="0" rIns="0" bIns="0" rtlCol="0" anchor="ctr"/>
          <a:lstStyle/>
          <a:p>
            <a:pPr indent="0" marL="0">
              <a:spcAft>
                <a:spcPts val="400"/>
              </a:spcAft>
              <a:buNone/>
            </a:pPr>
            <a:r>
              <a:rPr lang="en-US" sz="1400" dirty="0">
                <a:solidFill>
                  <a:srgbClr val="FFFFFF"/>
                </a:solidFill>
                <a:latin typeface="Calibri" pitchFamily="34" charset="0"/>
                <a:ea typeface="Calibri" pitchFamily="34" charset="-122"/>
                <a:cs typeface="Calibri" pitchFamily="34" charset="-120"/>
              </a:rPr>
              <a:t>Kalyani Eknath Borkar  |  PRN 23070521036</a:t>
            </a:r>
            <a:endParaRPr lang="en-US" sz="1400" dirty="0"/>
          </a:p>
          <a:p>
            <a:pPr indent="0" marL="0">
              <a:spcAft>
                <a:spcPts val="400"/>
              </a:spcAft>
              <a:buNone/>
            </a:pPr>
            <a:r>
              <a:rPr lang="en-US" sz="1400" dirty="0">
                <a:solidFill>
                  <a:srgbClr val="FFFFFF"/>
                </a:solidFill>
                <a:latin typeface="Calibri" pitchFamily="34" charset="0"/>
                <a:ea typeface="Calibri" pitchFamily="34" charset="-122"/>
                <a:cs typeface="Calibri" pitchFamily="34" charset="-120"/>
              </a:rPr>
              <a:t>B.Tech CSE (AI &amp; ML), Sem VII, Section A</a:t>
            </a:r>
            <a:endParaRPr lang="en-US" sz="1400" dirty="0"/>
          </a:p>
          <a:p>
            <a:pPr indent="0" marL="0">
              <a:spcAft>
                <a:spcPts val="400"/>
              </a:spcAft>
              <a:buNone/>
            </a:pPr>
            <a:r>
              <a:rPr lang="en-US" sz="1400" dirty="0">
                <a:solidFill>
                  <a:srgbClr val="FFFFFF"/>
                </a:solidFill>
                <a:latin typeface="Calibri" pitchFamily="34" charset="0"/>
                <a:ea typeface="Calibri" pitchFamily="34" charset="-122"/>
                <a:cs typeface="Calibri" pitchFamily="34" charset="-120"/>
              </a:rPr>
              <a:t>Predictive Analytics (T3366) - CA3, Symbiosis Institute of Technology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A9D8F"/>
          </a:solidFill>
          <a:ln w="12700">
            <a:solidFill>
              <a:srgbClr val="2A9D8F"/>
            </a:solidFill>
            <a:prstDash val="solid"/>
          </a:ln>
        </p:spPr>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What are we trying to predict?</a:t>
            </a:r>
            <a:endParaRPr lang="en-US" sz="2600" dirty="0"/>
          </a:p>
        </p:txBody>
      </p:sp>
      <p:sp>
        <p:nvSpPr>
          <p:cNvPr id="4" name="Text 2"/>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5B6B7A"/>
                </a:solidFill>
                <a:latin typeface="Calibri" pitchFamily="34" charset="0"/>
                <a:ea typeface="Calibri" pitchFamily="34" charset="-122"/>
                <a:cs typeface="Calibri" pitchFamily="34" charset="-120"/>
              </a:rPr>
              <a:t>Kalyani Borkar | PRN 23070521036 | T3366 CA3        2</a:t>
            </a:r>
            <a:endParaRPr lang="en-US" sz="900" dirty="0"/>
          </a:p>
        </p:txBody>
      </p:sp>
      <p:sp>
        <p:nvSpPr>
          <p:cNvPr id="5" name="Text 3"/>
          <p:cNvSpPr txBox="1"/>
          <p:nvPr/>
        </p:nvSpPr>
        <p:spPr>
          <a:xfrm>
            <a:off x="457200" y="1005840"/>
            <a:ext cx="8229600" cy="548640"/>
          </a:xfrm>
          <a:prstGeom prst="rect">
            <a:avLst/>
          </a:prstGeom>
          <a:noFill/>
          <a:ln/>
        </p:spPr>
        <p:txBody>
          <a:bodyPr wrap="square" lIns="0" tIns="0" rIns="0" bIns="0" rtlCol="0" anchor="ctr"/>
          <a:lstStyle/>
          <a:p>
            <a:pPr indent="0" marL="0">
              <a:buNone/>
            </a:pPr>
            <a:r>
              <a:rPr lang="en-US" sz="1600" dirty="0">
                <a:solidFill>
                  <a:srgbClr val="22313F"/>
                </a:solidFill>
                <a:latin typeface="Calibri" pitchFamily="34" charset="0"/>
                <a:ea typeface="Calibri" pitchFamily="34" charset="-122"/>
                <a:cs typeface="Calibri" pitchFamily="34" charset="-120"/>
              </a:rPr>
              <a:t>Goal: predict a student's Performance Index (a score from 0 to 100) from five habits.</a:t>
            </a:r>
            <a:endParaRPr lang="en-US" sz="1600" dirty="0"/>
          </a:p>
        </p:txBody>
      </p:sp>
      <p:sp>
        <p:nvSpPr>
          <p:cNvPr id="6" name="Shape 4"/>
          <p:cNvSpPr/>
          <p:nvPr/>
        </p:nvSpPr>
        <p:spPr>
          <a:xfrm>
            <a:off x="457200" y="1783080"/>
            <a:ext cx="1508760" cy="1051560"/>
          </a:xfrm>
          <a:prstGeom prst="roundRect">
            <a:avLst>
              <a:gd name="adj" fmla="val 6957"/>
            </a:avLst>
          </a:prstGeom>
          <a:solidFill>
            <a:srgbClr val="EEF3F6"/>
          </a:solidFill>
          <a:ln w="12700">
            <a:solidFill>
              <a:srgbClr val="C9D6DE"/>
            </a:solidFill>
            <a:prstDash val="solid"/>
          </a:ln>
        </p:spPr>
      </p:sp>
      <p:sp>
        <p:nvSpPr>
          <p:cNvPr id="7" name="Text 5"/>
          <p:cNvSpPr txBox="1"/>
          <p:nvPr/>
        </p:nvSpPr>
        <p:spPr>
          <a:xfrm>
            <a:off x="457200" y="1783080"/>
            <a:ext cx="1508760" cy="1051560"/>
          </a:xfrm>
          <a:prstGeom prst="rect">
            <a:avLst/>
          </a:prstGeom>
          <a:noFill/>
          <a:ln/>
        </p:spPr>
        <p:txBody>
          <a:bodyPr wrap="square" rtlCol="0" anchor="ctr"/>
          <a:lstStyle/>
          <a:p>
            <a:pPr algn="ctr" indent="0" marL="0">
              <a:buNone/>
            </a:pPr>
            <a:r>
              <a:rPr lang="en-US" sz="1400" b="1" dirty="0">
                <a:solidFill>
                  <a:srgbClr val="1F3A5F"/>
                </a:solidFill>
                <a:latin typeface="Calibri" pitchFamily="34" charset="0"/>
                <a:ea typeface="Calibri" pitchFamily="34" charset="-122"/>
                <a:cs typeface="Calibri" pitchFamily="34" charset="-120"/>
              </a:rPr>
              <a:t>Study hours</a:t>
            </a:r>
            <a:endParaRPr lang="en-US" sz="1400" dirty="0"/>
          </a:p>
          <a:p>
            <a:pPr algn="ctr" indent="0" marL="0">
              <a:buNone/>
            </a:pPr>
            <a:r>
              <a:rPr lang="en-US" sz="1200" dirty="0">
                <a:solidFill>
                  <a:srgbClr val="5B6B7A"/>
                </a:solidFill>
                <a:latin typeface="Calibri" pitchFamily="34" charset="0"/>
                <a:ea typeface="Calibri" pitchFamily="34" charset="-122"/>
                <a:cs typeface="Calibri" pitchFamily="34" charset="-120"/>
              </a:rPr>
              <a:t>per day</a:t>
            </a:r>
            <a:endParaRPr lang="en-US" sz="1400" dirty="0"/>
          </a:p>
        </p:txBody>
      </p:sp>
      <p:sp>
        <p:nvSpPr>
          <p:cNvPr id="8" name="Shape 6"/>
          <p:cNvSpPr/>
          <p:nvPr/>
        </p:nvSpPr>
        <p:spPr>
          <a:xfrm>
            <a:off x="2103120" y="1783080"/>
            <a:ext cx="1508760" cy="1051560"/>
          </a:xfrm>
          <a:prstGeom prst="roundRect">
            <a:avLst>
              <a:gd name="adj" fmla="val 6957"/>
            </a:avLst>
          </a:prstGeom>
          <a:solidFill>
            <a:srgbClr val="EEF3F6"/>
          </a:solidFill>
          <a:ln w="12700">
            <a:solidFill>
              <a:srgbClr val="C9D6DE"/>
            </a:solidFill>
            <a:prstDash val="solid"/>
          </a:ln>
        </p:spPr>
      </p:sp>
      <p:sp>
        <p:nvSpPr>
          <p:cNvPr id="9" name="Text 7"/>
          <p:cNvSpPr txBox="1"/>
          <p:nvPr/>
        </p:nvSpPr>
        <p:spPr>
          <a:xfrm>
            <a:off x="2103120" y="1783080"/>
            <a:ext cx="1508760" cy="1051560"/>
          </a:xfrm>
          <a:prstGeom prst="rect">
            <a:avLst/>
          </a:prstGeom>
          <a:noFill/>
          <a:ln/>
        </p:spPr>
        <p:txBody>
          <a:bodyPr wrap="square" rtlCol="0" anchor="ctr"/>
          <a:lstStyle/>
          <a:p>
            <a:pPr algn="ctr" indent="0" marL="0">
              <a:buNone/>
            </a:pPr>
            <a:r>
              <a:rPr lang="en-US" sz="1400" b="1" dirty="0">
                <a:solidFill>
                  <a:srgbClr val="1F3A5F"/>
                </a:solidFill>
                <a:latin typeface="Calibri" pitchFamily="34" charset="0"/>
                <a:ea typeface="Calibri" pitchFamily="34" charset="-122"/>
                <a:cs typeface="Calibri" pitchFamily="34" charset="-120"/>
              </a:rPr>
              <a:t>Previous score</a:t>
            </a:r>
            <a:endParaRPr lang="en-US" sz="1400" dirty="0"/>
          </a:p>
          <a:p>
            <a:pPr algn="ctr" indent="0" marL="0">
              <a:buNone/>
            </a:pPr>
            <a:r>
              <a:rPr lang="en-US" sz="1200" dirty="0">
                <a:solidFill>
                  <a:srgbClr val="5B6B7A"/>
                </a:solidFill>
                <a:latin typeface="Calibri" pitchFamily="34" charset="0"/>
                <a:ea typeface="Calibri" pitchFamily="34" charset="-122"/>
                <a:cs typeface="Calibri" pitchFamily="34" charset="-120"/>
              </a:rPr>
              <a:t>last exam</a:t>
            </a:r>
            <a:endParaRPr lang="en-US" sz="1400" dirty="0"/>
          </a:p>
        </p:txBody>
      </p:sp>
      <p:sp>
        <p:nvSpPr>
          <p:cNvPr id="10" name="Shape 8"/>
          <p:cNvSpPr/>
          <p:nvPr/>
        </p:nvSpPr>
        <p:spPr>
          <a:xfrm>
            <a:off x="3749040" y="1783080"/>
            <a:ext cx="1508760" cy="1051560"/>
          </a:xfrm>
          <a:prstGeom prst="roundRect">
            <a:avLst>
              <a:gd name="adj" fmla="val 6957"/>
            </a:avLst>
          </a:prstGeom>
          <a:solidFill>
            <a:srgbClr val="EEF3F6"/>
          </a:solidFill>
          <a:ln w="12700">
            <a:solidFill>
              <a:srgbClr val="C9D6DE"/>
            </a:solidFill>
            <a:prstDash val="solid"/>
          </a:ln>
        </p:spPr>
      </p:sp>
      <p:sp>
        <p:nvSpPr>
          <p:cNvPr id="11" name="Text 9"/>
          <p:cNvSpPr txBox="1"/>
          <p:nvPr/>
        </p:nvSpPr>
        <p:spPr>
          <a:xfrm>
            <a:off x="3749040" y="1783080"/>
            <a:ext cx="1508760" cy="1051560"/>
          </a:xfrm>
          <a:prstGeom prst="rect">
            <a:avLst/>
          </a:prstGeom>
          <a:noFill/>
          <a:ln/>
        </p:spPr>
        <p:txBody>
          <a:bodyPr wrap="square" rtlCol="0" anchor="ctr"/>
          <a:lstStyle/>
          <a:p>
            <a:pPr algn="ctr" indent="0" marL="0">
              <a:buNone/>
            </a:pPr>
            <a:r>
              <a:rPr lang="en-US" sz="1400" b="1" dirty="0">
                <a:solidFill>
                  <a:srgbClr val="1F3A5F"/>
                </a:solidFill>
                <a:latin typeface="Calibri" pitchFamily="34" charset="0"/>
                <a:ea typeface="Calibri" pitchFamily="34" charset="-122"/>
                <a:cs typeface="Calibri" pitchFamily="34" charset="-120"/>
              </a:rPr>
              <a:t>Attendance</a:t>
            </a:r>
            <a:endParaRPr lang="en-US" sz="1400" dirty="0"/>
          </a:p>
          <a:p>
            <a:pPr algn="ctr" indent="0" marL="0">
              <a:buNone/>
            </a:pPr>
            <a:r>
              <a:rPr lang="en-US" sz="1200" dirty="0">
                <a:solidFill>
                  <a:srgbClr val="5B6B7A"/>
                </a:solidFill>
                <a:latin typeface="Calibri" pitchFamily="34" charset="0"/>
                <a:ea typeface="Calibri" pitchFamily="34" charset="-122"/>
                <a:cs typeface="Calibri" pitchFamily="34" charset="-120"/>
              </a:rPr>
              <a:t>% of classes</a:t>
            </a:r>
            <a:endParaRPr lang="en-US" sz="1400" dirty="0"/>
          </a:p>
        </p:txBody>
      </p:sp>
      <p:sp>
        <p:nvSpPr>
          <p:cNvPr id="12" name="Shape 10"/>
          <p:cNvSpPr/>
          <p:nvPr/>
        </p:nvSpPr>
        <p:spPr>
          <a:xfrm>
            <a:off x="5394960" y="1783080"/>
            <a:ext cx="1508760" cy="1051560"/>
          </a:xfrm>
          <a:prstGeom prst="roundRect">
            <a:avLst>
              <a:gd name="adj" fmla="val 6957"/>
            </a:avLst>
          </a:prstGeom>
          <a:solidFill>
            <a:srgbClr val="EEF3F6"/>
          </a:solidFill>
          <a:ln w="12700">
            <a:solidFill>
              <a:srgbClr val="C9D6DE"/>
            </a:solidFill>
            <a:prstDash val="solid"/>
          </a:ln>
        </p:spPr>
      </p:sp>
      <p:sp>
        <p:nvSpPr>
          <p:cNvPr id="13" name="Text 11"/>
          <p:cNvSpPr txBox="1"/>
          <p:nvPr/>
        </p:nvSpPr>
        <p:spPr>
          <a:xfrm>
            <a:off x="5394960" y="1783080"/>
            <a:ext cx="1508760" cy="1051560"/>
          </a:xfrm>
          <a:prstGeom prst="rect">
            <a:avLst/>
          </a:prstGeom>
          <a:noFill/>
          <a:ln/>
        </p:spPr>
        <p:txBody>
          <a:bodyPr wrap="square" rtlCol="0" anchor="ctr"/>
          <a:lstStyle/>
          <a:p>
            <a:pPr algn="ctr" indent="0" marL="0">
              <a:buNone/>
            </a:pPr>
            <a:r>
              <a:rPr lang="en-US" sz="1400" b="1" dirty="0">
                <a:solidFill>
                  <a:srgbClr val="1F3A5F"/>
                </a:solidFill>
                <a:latin typeface="Calibri" pitchFamily="34" charset="0"/>
                <a:ea typeface="Calibri" pitchFamily="34" charset="-122"/>
                <a:cs typeface="Calibri" pitchFamily="34" charset="-120"/>
              </a:rPr>
              <a:t>Practice papers</a:t>
            </a:r>
            <a:endParaRPr lang="en-US" sz="1400" dirty="0"/>
          </a:p>
          <a:p>
            <a:pPr algn="ctr" indent="0" marL="0">
              <a:buNone/>
            </a:pPr>
            <a:r>
              <a:rPr lang="en-US" sz="1200" dirty="0">
                <a:solidFill>
                  <a:srgbClr val="5B6B7A"/>
                </a:solidFill>
                <a:latin typeface="Calibri" pitchFamily="34" charset="0"/>
                <a:ea typeface="Calibri" pitchFamily="34" charset="-122"/>
                <a:cs typeface="Calibri" pitchFamily="34" charset="-120"/>
              </a:rPr>
              <a:t>solved</a:t>
            </a:r>
            <a:endParaRPr lang="en-US" sz="1400" dirty="0"/>
          </a:p>
        </p:txBody>
      </p:sp>
      <p:sp>
        <p:nvSpPr>
          <p:cNvPr id="14" name="Shape 12"/>
          <p:cNvSpPr/>
          <p:nvPr/>
        </p:nvSpPr>
        <p:spPr>
          <a:xfrm>
            <a:off x="7040880" y="1783080"/>
            <a:ext cx="1508760" cy="1051560"/>
          </a:xfrm>
          <a:prstGeom prst="roundRect">
            <a:avLst>
              <a:gd name="adj" fmla="val 6957"/>
            </a:avLst>
          </a:prstGeom>
          <a:solidFill>
            <a:srgbClr val="EEF3F6"/>
          </a:solidFill>
          <a:ln w="12700">
            <a:solidFill>
              <a:srgbClr val="C9D6DE"/>
            </a:solidFill>
            <a:prstDash val="solid"/>
          </a:ln>
        </p:spPr>
      </p:sp>
      <p:sp>
        <p:nvSpPr>
          <p:cNvPr id="15" name="Text 13"/>
          <p:cNvSpPr txBox="1"/>
          <p:nvPr/>
        </p:nvSpPr>
        <p:spPr>
          <a:xfrm>
            <a:off x="7040880" y="1783080"/>
            <a:ext cx="1508760" cy="1051560"/>
          </a:xfrm>
          <a:prstGeom prst="rect">
            <a:avLst/>
          </a:prstGeom>
          <a:noFill/>
          <a:ln/>
        </p:spPr>
        <p:txBody>
          <a:bodyPr wrap="square" rtlCol="0" anchor="ctr"/>
          <a:lstStyle/>
          <a:p>
            <a:pPr algn="ctr" indent="0" marL="0">
              <a:buNone/>
            </a:pPr>
            <a:r>
              <a:rPr lang="en-US" sz="1400" b="1" dirty="0">
                <a:solidFill>
                  <a:srgbClr val="1F3A5F"/>
                </a:solidFill>
                <a:latin typeface="Calibri" pitchFamily="34" charset="0"/>
                <a:ea typeface="Calibri" pitchFamily="34" charset="-122"/>
                <a:cs typeface="Calibri" pitchFamily="34" charset="-120"/>
              </a:rPr>
              <a:t>Sleep hours</a:t>
            </a:r>
            <a:endParaRPr lang="en-US" sz="1400" dirty="0"/>
          </a:p>
          <a:p>
            <a:pPr algn="ctr" indent="0" marL="0">
              <a:buNone/>
            </a:pPr>
            <a:r>
              <a:rPr lang="en-US" sz="1200" dirty="0">
                <a:solidFill>
                  <a:srgbClr val="5B6B7A"/>
                </a:solidFill>
                <a:latin typeface="Calibri" pitchFamily="34" charset="0"/>
                <a:ea typeface="Calibri" pitchFamily="34" charset="-122"/>
                <a:cs typeface="Calibri" pitchFamily="34" charset="-120"/>
              </a:rPr>
              <a:t>per day</a:t>
            </a:r>
            <a:endParaRPr lang="en-US" sz="1400" dirty="0"/>
          </a:p>
        </p:txBody>
      </p:sp>
      <p:sp>
        <p:nvSpPr>
          <p:cNvPr id="16" name="Text 14"/>
          <p:cNvSpPr txBox="1"/>
          <p:nvPr/>
        </p:nvSpPr>
        <p:spPr>
          <a:xfrm>
            <a:off x="457200" y="3108960"/>
            <a:ext cx="8229600" cy="1554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313F"/>
                </a:solidFill>
                <a:latin typeface="Calibri" pitchFamily="34" charset="0"/>
                <a:ea typeface="Calibri" pitchFamily="34" charset="-122"/>
                <a:cs typeface="Calibri" pitchFamily="34" charset="-120"/>
              </a:rPr>
              <a:t>Target is a continuous number, so this is a regression problem, not classification.</a:t>
            </a:r>
            <a:endParaRPr lang="en-US" sz="1500" dirty="0"/>
          </a:p>
          <a:p>
            <a:pPr marL="342900" indent="-342900">
              <a:spcAft>
                <a:spcPts val="800"/>
              </a:spcAft>
              <a:buSzPct val="100000"/>
              <a:buChar char="•"/>
            </a:pPr>
            <a:r>
              <a:rPr lang="en-US" sz="1500" dirty="0">
                <a:solidFill>
                  <a:srgbClr val="22313F"/>
                </a:solidFill>
                <a:latin typeface="Calibri" pitchFamily="34" charset="0"/>
                <a:ea typeface="Calibri" pitchFamily="34" charset="-122"/>
                <a:cs typeface="Calibri" pitchFamily="34" charset="-120"/>
              </a:rPr>
              <a:t>I generated 1,000 synthetic student records in the code, so it runs on any laptop.</a:t>
            </a:r>
            <a:endParaRPr lang="en-US" sz="1500" dirty="0"/>
          </a:p>
          <a:p>
            <a:pPr marL="342900" indent="-342900">
              <a:spcAft>
                <a:spcPts val="800"/>
              </a:spcAft>
              <a:buSzPct val="100000"/>
              <a:buChar char="•"/>
            </a:pPr>
            <a:r>
              <a:rPr lang="en-US" sz="1500" dirty="0">
                <a:solidFill>
                  <a:srgbClr val="22313F"/>
                </a:solidFill>
                <a:latin typeface="Calibri" pitchFamily="34" charset="0"/>
                <a:ea typeface="Calibri" pitchFamily="34" charset="-122"/>
                <a:cs typeface="Calibri" pitchFamily="34" charset="-120"/>
              </a:rPr>
              <a:t>I added a few missing values and wrong entries on purpose, to show real data cleaning.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A9D8F"/>
          </a:solidFill>
          <a:ln w="12700">
            <a:solidFill>
              <a:srgbClr val="2A9D8F"/>
            </a:solidFill>
            <a:prstDash val="solid"/>
          </a:ln>
        </p:spPr>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The KDD process I followed</a:t>
            </a:r>
            <a:endParaRPr lang="en-US" sz="2600" dirty="0"/>
          </a:p>
        </p:txBody>
      </p:sp>
      <p:sp>
        <p:nvSpPr>
          <p:cNvPr id="4" name="Text 2"/>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5B6B7A"/>
                </a:solidFill>
                <a:latin typeface="Calibri" pitchFamily="34" charset="0"/>
                <a:ea typeface="Calibri" pitchFamily="34" charset="-122"/>
                <a:cs typeface="Calibri" pitchFamily="34" charset="-120"/>
              </a:rPr>
              <a:t>Kalyani Borkar | PRN 23070521036 | T3366 CA3        3</a:t>
            </a:r>
            <a:endParaRPr lang="en-US" sz="900" dirty="0"/>
          </a:p>
        </p:txBody>
      </p:sp>
      <p:sp>
        <p:nvSpPr>
          <p:cNvPr id="5" name="Shape 3"/>
          <p:cNvSpPr/>
          <p:nvPr/>
        </p:nvSpPr>
        <p:spPr>
          <a:xfrm>
            <a:off x="914400" y="1188720"/>
            <a:ext cx="548640" cy="548640"/>
          </a:xfrm>
          <a:prstGeom prst="ellipse">
            <a:avLst/>
          </a:prstGeom>
          <a:solidFill>
            <a:srgbClr val="1F3A5F"/>
          </a:solidFill>
          <a:ln w="12700">
            <a:solidFill>
              <a:srgbClr val="FFFFFF"/>
            </a:solidFill>
            <a:prstDash val="solid"/>
          </a:ln>
        </p:spPr>
      </p:sp>
      <p:sp>
        <p:nvSpPr>
          <p:cNvPr id="6" name="Text 4"/>
          <p:cNvSpPr txBox="1"/>
          <p:nvPr/>
        </p:nvSpPr>
        <p:spPr>
          <a:xfrm>
            <a:off x="914400" y="1188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457200" y="1874520"/>
            <a:ext cx="1508760" cy="365760"/>
          </a:xfrm>
          <a:prstGeom prst="rect">
            <a:avLst/>
          </a:prstGeom>
          <a:noFill/>
          <a:ln/>
        </p:spPr>
        <p:txBody>
          <a:bodyPr wrap="square" lIns="0" tIns="0" rIns="0" bIns="0" rtlCol="0" anchor="ctr"/>
          <a:lstStyle/>
          <a:p>
            <a:pPr algn="ctr" indent="0" marL="0">
              <a:buNone/>
            </a:pPr>
            <a:r>
              <a:rPr lang="en-US" sz="1500" b="1" dirty="0">
                <a:solidFill>
                  <a:srgbClr val="1F3A5F"/>
                </a:solidFill>
                <a:latin typeface="Calibri" pitchFamily="34" charset="0"/>
                <a:ea typeface="Calibri" pitchFamily="34" charset="-122"/>
                <a:cs typeface="Calibri" pitchFamily="34" charset="-120"/>
              </a:rPr>
              <a:t>Selection</a:t>
            </a:r>
            <a:endParaRPr lang="en-US" sz="1500" dirty="0"/>
          </a:p>
        </p:txBody>
      </p:sp>
      <p:sp>
        <p:nvSpPr>
          <p:cNvPr id="8" name="Text 6"/>
          <p:cNvSpPr txBox="1"/>
          <p:nvPr/>
        </p:nvSpPr>
        <p:spPr>
          <a:xfrm>
            <a:off x="457200" y="2286000"/>
            <a:ext cx="1508760" cy="914400"/>
          </a:xfrm>
          <a:prstGeom prst="rect">
            <a:avLst/>
          </a:prstGeom>
          <a:noFill/>
          <a:ln/>
        </p:spPr>
        <p:txBody>
          <a:bodyPr wrap="square" lIns="0" tIns="0" rIns="0" bIns="0" rtlCol="0" anchor="t"/>
          <a:lstStyle/>
          <a:p>
            <a:pPr algn="ctr" indent="0" marL="0">
              <a:buNone/>
            </a:pPr>
            <a:r>
              <a:rPr lang="en-US" sz="1250" dirty="0">
                <a:solidFill>
                  <a:srgbClr val="22313F"/>
                </a:solidFill>
                <a:latin typeface="Calibri" pitchFamily="34" charset="0"/>
                <a:ea typeface="Calibri" pitchFamily="34" charset="-122"/>
                <a:cs typeface="Calibri" pitchFamily="34" charset="-120"/>
              </a:rPr>
              <a:t>Pick the data: 1,000 records, 5 inputs + 1 target</a:t>
            </a:r>
            <a:endParaRPr lang="en-US" sz="1250" dirty="0"/>
          </a:p>
        </p:txBody>
      </p:sp>
      <p:sp>
        <p:nvSpPr>
          <p:cNvPr id="9" name="Shape 7"/>
          <p:cNvSpPr/>
          <p:nvPr/>
        </p:nvSpPr>
        <p:spPr>
          <a:xfrm>
            <a:off x="2560320" y="1188720"/>
            <a:ext cx="548640" cy="548640"/>
          </a:xfrm>
          <a:prstGeom prst="ellipse">
            <a:avLst/>
          </a:prstGeom>
          <a:solidFill>
            <a:srgbClr val="2A9D8F"/>
          </a:solidFill>
          <a:ln w="12700">
            <a:solidFill>
              <a:srgbClr val="FFFFFF"/>
            </a:solidFill>
            <a:prstDash val="solid"/>
          </a:ln>
        </p:spPr>
      </p:sp>
      <p:sp>
        <p:nvSpPr>
          <p:cNvPr id="10" name="Text 8"/>
          <p:cNvSpPr txBox="1"/>
          <p:nvPr/>
        </p:nvSpPr>
        <p:spPr>
          <a:xfrm>
            <a:off x="2560320" y="1188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2103120" y="1874520"/>
            <a:ext cx="1508760" cy="365760"/>
          </a:xfrm>
          <a:prstGeom prst="rect">
            <a:avLst/>
          </a:prstGeom>
          <a:noFill/>
          <a:ln/>
        </p:spPr>
        <p:txBody>
          <a:bodyPr wrap="square" lIns="0" tIns="0" rIns="0" bIns="0" rtlCol="0" anchor="ctr"/>
          <a:lstStyle/>
          <a:p>
            <a:pPr algn="ctr" indent="0" marL="0">
              <a:buNone/>
            </a:pPr>
            <a:r>
              <a:rPr lang="en-US" sz="1500" b="1" dirty="0">
                <a:solidFill>
                  <a:srgbClr val="1F3A5F"/>
                </a:solidFill>
                <a:latin typeface="Calibri" pitchFamily="34" charset="0"/>
                <a:ea typeface="Calibri" pitchFamily="34" charset="-122"/>
                <a:cs typeface="Calibri" pitchFamily="34" charset="-120"/>
              </a:rPr>
              <a:t>Preprocessing</a:t>
            </a:r>
            <a:endParaRPr lang="en-US" sz="1500" dirty="0"/>
          </a:p>
        </p:txBody>
      </p:sp>
      <p:sp>
        <p:nvSpPr>
          <p:cNvPr id="12" name="Text 10"/>
          <p:cNvSpPr txBox="1"/>
          <p:nvPr/>
        </p:nvSpPr>
        <p:spPr>
          <a:xfrm>
            <a:off x="2103120" y="2286000"/>
            <a:ext cx="1508760" cy="914400"/>
          </a:xfrm>
          <a:prstGeom prst="rect">
            <a:avLst/>
          </a:prstGeom>
          <a:noFill/>
          <a:ln/>
        </p:spPr>
        <p:txBody>
          <a:bodyPr wrap="square" lIns="0" tIns="0" rIns="0" bIns="0" rtlCol="0" anchor="t"/>
          <a:lstStyle/>
          <a:p>
            <a:pPr algn="ctr" indent="0" marL="0">
              <a:buNone/>
            </a:pPr>
            <a:r>
              <a:rPr lang="en-US" sz="1250" dirty="0">
                <a:solidFill>
                  <a:srgbClr val="22313F"/>
                </a:solidFill>
                <a:latin typeface="Calibri" pitchFamily="34" charset="0"/>
                <a:ea typeface="Calibri" pitchFamily="34" charset="-122"/>
                <a:cs typeface="Calibri" pitchFamily="34" charset="-120"/>
              </a:rPr>
              <a:t>Fix missing values and outliers</a:t>
            </a:r>
            <a:endParaRPr lang="en-US" sz="1250" dirty="0"/>
          </a:p>
        </p:txBody>
      </p:sp>
      <p:sp>
        <p:nvSpPr>
          <p:cNvPr id="13" name="Shape 11"/>
          <p:cNvSpPr/>
          <p:nvPr/>
        </p:nvSpPr>
        <p:spPr>
          <a:xfrm>
            <a:off x="4206240" y="1188720"/>
            <a:ext cx="548640" cy="548640"/>
          </a:xfrm>
          <a:prstGeom prst="ellipse">
            <a:avLst/>
          </a:prstGeom>
          <a:solidFill>
            <a:srgbClr val="1F3A5F"/>
          </a:solidFill>
          <a:ln w="12700">
            <a:solidFill>
              <a:srgbClr val="FFFFFF"/>
            </a:solidFill>
            <a:prstDash val="solid"/>
          </a:ln>
        </p:spPr>
      </p:sp>
      <p:sp>
        <p:nvSpPr>
          <p:cNvPr id="14" name="Text 12"/>
          <p:cNvSpPr txBox="1"/>
          <p:nvPr/>
        </p:nvSpPr>
        <p:spPr>
          <a:xfrm>
            <a:off x="4206240" y="1188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3749040" y="1874520"/>
            <a:ext cx="1508760" cy="365760"/>
          </a:xfrm>
          <a:prstGeom prst="rect">
            <a:avLst/>
          </a:prstGeom>
          <a:noFill/>
          <a:ln/>
        </p:spPr>
        <p:txBody>
          <a:bodyPr wrap="square" lIns="0" tIns="0" rIns="0" bIns="0" rtlCol="0" anchor="ctr"/>
          <a:lstStyle/>
          <a:p>
            <a:pPr algn="ctr" indent="0" marL="0">
              <a:buNone/>
            </a:pPr>
            <a:r>
              <a:rPr lang="en-US" sz="1500" b="1" dirty="0">
                <a:solidFill>
                  <a:srgbClr val="1F3A5F"/>
                </a:solidFill>
                <a:latin typeface="Calibri" pitchFamily="34" charset="0"/>
                <a:ea typeface="Calibri" pitchFamily="34" charset="-122"/>
                <a:cs typeface="Calibri" pitchFamily="34" charset="-120"/>
              </a:rPr>
              <a:t>Transformation</a:t>
            </a:r>
            <a:endParaRPr lang="en-US" sz="1500" dirty="0"/>
          </a:p>
        </p:txBody>
      </p:sp>
      <p:sp>
        <p:nvSpPr>
          <p:cNvPr id="16" name="Text 14"/>
          <p:cNvSpPr txBox="1"/>
          <p:nvPr/>
        </p:nvSpPr>
        <p:spPr>
          <a:xfrm>
            <a:off x="3749040" y="2286000"/>
            <a:ext cx="1508760" cy="914400"/>
          </a:xfrm>
          <a:prstGeom prst="rect">
            <a:avLst/>
          </a:prstGeom>
          <a:noFill/>
          <a:ln/>
        </p:spPr>
        <p:txBody>
          <a:bodyPr wrap="square" lIns="0" tIns="0" rIns="0" bIns="0" rtlCol="0" anchor="t"/>
          <a:lstStyle/>
          <a:p>
            <a:pPr algn="ctr" indent="0" marL="0">
              <a:buNone/>
            </a:pPr>
            <a:r>
              <a:rPr lang="en-US" sz="1250" dirty="0">
                <a:solidFill>
                  <a:srgbClr val="22313F"/>
                </a:solidFill>
                <a:latin typeface="Calibri" pitchFamily="34" charset="0"/>
                <a:ea typeface="Calibri" pitchFamily="34" charset="-122"/>
                <a:cs typeface="Calibri" pitchFamily="34" charset="-120"/>
              </a:rPr>
              <a:t>Train/test split and scaling</a:t>
            </a:r>
            <a:endParaRPr lang="en-US" sz="1250" dirty="0"/>
          </a:p>
        </p:txBody>
      </p:sp>
      <p:sp>
        <p:nvSpPr>
          <p:cNvPr id="17" name="Shape 15"/>
          <p:cNvSpPr/>
          <p:nvPr/>
        </p:nvSpPr>
        <p:spPr>
          <a:xfrm>
            <a:off x="5852160" y="1188720"/>
            <a:ext cx="548640" cy="548640"/>
          </a:xfrm>
          <a:prstGeom prst="ellipse">
            <a:avLst/>
          </a:prstGeom>
          <a:solidFill>
            <a:srgbClr val="2A9D8F"/>
          </a:solidFill>
          <a:ln w="12700">
            <a:solidFill>
              <a:srgbClr val="FFFFFF"/>
            </a:solidFill>
            <a:prstDash val="solid"/>
          </a:ln>
        </p:spPr>
      </p:sp>
      <p:sp>
        <p:nvSpPr>
          <p:cNvPr id="18" name="Text 16"/>
          <p:cNvSpPr txBox="1"/>
          <p:nvPr/>
        </p:nvSpPr>
        <p:spPr>
          <a:xfrm>
            <a:off x="5852160" y="1188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txBox="1"/>
          <p:nvPr/>
        </p:nvSpPr>
        <p:spPr>
          <a:xfrm>
            <a:off x="5394960" y="1874520"/>
            <a:ext cx="1508760" cy="365760"/>
          </a:xfrm>
          <a:prstGeom prst="rect">
            <a:avLst/>
          </a:prstGeom>
          <a:noFill/>
          <a:ln/>
        </p:spPr>
        <p:txBody>
          <a:bodyPr wrap="square" lIns="0" tIns="0" rIns="0" bIns="0" rtlCol="0" anchor="ctr"/>
          <a:lstStyle/>
          <a:p>
            <a:pPr algn="ctr" indent="0" marL="0">
              <a:buNone/>
            </a:pPr>
            <a:r>
              <a:rPr lang="en-US" sz="1500" b="1" dirty="0">
                <a:solidFill>
                  <a:srgbClr val="1F3A5F"/>
                </a:solidFill>
                <a:latin typeface="Calibri" pitchFamily="34" charset="0"/>
                <a:ea typeface="Calibri" pitchFamily="34" charset="-122"/>
                <a:cs typeface="Calibri" pitchFamily="34" charset="-120"/>
              </a:rPr>
              <a:t>Data mining</a:t>
            </a:r>
            <a:endParaRPr lang="en-US" sz="1500" dirty="0"/>
          </a:p>
        </p:txBody>
      </p:sp>
      <p:sp>
        <p:nvSpPr>
          <p:cNvPr id="20" name="Text 18"/>
          <p:cNvSpPr txBox="1"/>
          <p:nvPr/>
        </p:nvSpPr>
        <p:spPr>
          <a:xfrm>
            <a:off x="5394960" y="2286000"/>
            <a:ext cx="1508760" cy="914400"/>
          </a:xfrm>
          <a:prstGeom prst="rect">
            <a:avLst/>
          </a:prstGeom>
          <a:noFill/>
          <a:ln/>
        </p:spPr>
        <p:txBody>
          <a:bodyPr wrap="square" lIns="0" tIns="0" rIns="0" bIns="0" rtlCol="0" anchor="t"/>
          <a:lstStyle/>
          <a:p>
            <a:pPr algn="ctr" indent="0" marL="0">
              <a:buNone/>
            </a:pPr>
            <a:r>
              <a:rPr lang="en-US" sz="1250" dirty="0">
                <a:solidFill>
                  <a:srgbClr val="22313F"/>
                </a:solidFill>
                <a:latin typeface="Calibri" pitchFamily="34" charset="0"/>
                <a:ea typeface="Calibri" pitchFamily="34" charset="-122"/>
                <a:cs typeface="Calibri" pitchFamily="34" charset="-120"/>
              </a:rPr>
              <a:t>Train the regression models</a:t>
            </a:r>
            <a:endParaRPr lang="en-US" sz="1250" dirty="0"/>
          </a:p>
        </p:txBody>
      </p:sp>
      <p:sp>
        <p:nvSpPr>
          <p:cNvPr id="21" name="Shape 19"/>
          <p:cNvSpPr/>
          <p:nvPr/>
        </p:nvSpPr>
        <p:spPr>
          <a:xfrm>
            <a:off x="7498080" y="1188720"/>
            <a:ext cx="548640" cy="548640"/>
          </a:xfrm>
          <a:prstGeom prst="ellipse">
            <a:avLst/>
          </a:prstGeom>
          <a:solidFill>
            <a:srgbClr val="1F3A5F"/>
          </a:solidFill>
          <a:ln w="12700">
            <a:solidFill>
              <a:srgbClr val="FFFFFF"/>
            </a:solidFill>
            <a:prstDash val="solid"/>
          </a:ln>
        </p:spPr>
      </p:sp>
      <p:sp>
        <p:nvSpPr>
          <p:cNvPr id="22" name="Text 20"/>
          <p:cNvSpPr txBox="1"/>
          <p:nvPr/>
        </p:nvSpPr>
        <p:spPr>
          <a:xfrm>
            <a:off x="7498080" y="1188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3" name="Text 21"/>
          <p:cNvSpPr txBox="1"/>
          <p:nvPr/>
        </p:nvSpPr>
        <p:spPr>
          <a:xfrm>
            <a:off x="7040880" y="1874520"/>
            <a:ext cx="1508760" cy="365760"/>
          </a:xfrm>
          <a:prstGeom prst="rect">
            <a:avLst/>
          </a:prstGeom>
          <a:noFill/>
          <a:ln/>
        </p:spPr>
        <p:txBody>
          <a:bodyPr wrap="square" lIns="0" tIns="0" rIns="0" bIns="0" rtlCol="0" anchor="ctr"/>
          <a:lstStyle/>
          <a:p>
            <a:pPr algn="ctr" indent="0" marL="0">
              <a:buNone/>
            </a:pPr>
            <a:r>
              <a:rPr lang="en-US" sz="1500" b="1" dirty="0">
                <a:solidFill>
                  <a:srgbClr val="1F3A5F"/>
                </a:solidFill>
                <a:latin typeface="Calibri" pitchFamily="34" charset="0"/>
                <a:ea typeface="Calibri" pitchFamily="34" charset="-122"/>
                <a:cs typeface="Calibri" pitchFamily="34" charset="-120"/>
              </a:rPr>
              <a:t>Evaluation</a:t>
            </a:r>
            <a:endParaRPr lang="en-US" sz="1500" dirty="0"/>
          </a:p>
        </p:txBody>
      </p:sp>
      <p:sp>
        <p:nvSpPr>
          <p:cNvPr id="24" name="Text 22"/>
          <p:cNvSpPr txBox="1"/>
          <p:nvPr/>
        </p:nvSpPr>
        <p:spPr>
          <a:xfrm>
            <a:off x="7040880" y="2286000"/>
            <a:ext cx="1508760" cy="914400"/>
          </a:xfrm>
          <a:prstGeom prst="rect">
            <a:avLst/>
          </a:prstGeom>
          <a:noFill/>
          <a:ln/>
        </p:spPr>
        <p:txBody>
          <a:bodyPr wrap="square" lIns="0" tIns="0" rIns="0" bIns="0" rtlCol="0" anchor="t"/>
          <a:lstStyle/>
          <a:p>
            <a:pPr algn="ctr" indent="0" marL="0">
              <a:buNone/>
            </a:pPr>
            <a:r>
              <a:rPr lang="en-US" sz="1250" dirty="0">
                <a:solidFill>
                  <a:srgbClr val="22313F"/>
                </a:solidFill>
                <a:latin typeface="Calibri" pitchFamily="34" charset="0"/>
                <a:ea typeface="Calibri" pitchFamily="34" charset="-122"/>
                <a:cs typeface="Calibri" pitchFamily="34" charset="-120"/>
              </a:rPr>
              <a:t>Compare with MAE, RMSE, R-squared</a:t>
            </a:r>
            <a:endParaRPr lang="en-US" sz="1250" dirty="0"/>
          </a:p>
        </p:txBody>
      </p:sp>
      <p:sp>
        <p:nvSpPr>
          <p:cNvPr id="25" name="Shape 23"/>
          <p:cNvSpPr/>
          <p:nvPr/>
        </p:nvSpPr>
        <p:spPr>
          <a:xfrm>
            <a:off x="457200" y="3566160"/>
            <a:ext cx="8229600" cy="914400"/>
          </a:xfrm>
          <a:prstGeom prst="rect">
            <a:avLst/>
          </a:prstGeom>
          <a:solidFill>
            <a:srgbClr val="EEF3F6"/>
          </a:solidFill>
          <a:ln w="12700">
            <a:solidFill>
              <a:srgbClr val="EEF3F6"/>
            </a:solidFill>
            <a:prstDash val="solid"/>
          </a:ln>
        </p:spPr>
      </p:sp>
      <p:sp>
        <p:nvSpPr>
          <p:cNvPr id="26" name="Text 24"/>
          <p:cNvSpPr txBox="1"/>
          <p:nvPr/>
        </p:nvSpPr>
        <p:spPr>
          <a:xfrm>
            <a:off x="640080" y="3566160"/>
            <a:ext cx="7863840" cy="914400"/>
          </a:xfrm>
          <a:prstGeom prst="rect">
            <a:avLst/>
          </a:prstGeom>
          <a:noFill/>
          <a:ln/>
        </p:spPr>
        <p:txBody>
          <a:bodyPr wrap="square" lIns="0" tIns="0" rIns="0" bIns="0" rtlCol="0" anchor="ctr"/>
          <a:lstStyle/>
          <a:p>
            <a:pPr indent="0" marL="0">
              <a:buNone/>
            </a:pPr>
            <a:r>
              <a:rPr lang="en-US" sz="1400" dirty="0">
                <a:solidFill>
                  <a:srgbClr val="22313F"/>
                </a:solidFill>
                <a:latin typeface="Calibri" pitchFamily="34" charset="0"/>
                <a:ea typeface="Calibri" pitchFamily="34" charset="-122"/>
                <a:cs typeface="Calibri" pitchFamily="34" charset="-120"/>
              </a:rPr>
              <a:t>KDD = Knowledge Discovery in Databases. The idea is that good predictions come from the whole pipeline, not only from the model. Bad data gives bad results, however fancy the algorithm is.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A9D8F"/>
          </a:solidFill>
          <a:ln w="12700">
            <a:solidFill>
              <a:srgbClr val="2A9D8F"/>
            </a:solidFill>
            <a:prstDash val="solid"/>
          </a:ln>
        </p:spPr>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Cleaning and preparing the data</a:t>
            </a:r>
            <a:endParaRPr lang="en-US" sz="2600" dirty="0"/>
          </a:p>
        </p:txBody>
      </p:sp>
      <p:sp>
        <p:nvSpPr>
          <p:cNvPr id="4" name="Text 2"/>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5B6B7A"/>
                </a:solidFill>
                <a:latin typeface="Calibri" pitchFamily="34" charset="0"/>
                <a:ea typeface="Calibri" pitchFamily="34" charset="-122"/>
                <a:cs typeface="Calibri" pitchFamily="34" charset="-120"/>
              </a:rPr>
              <a:t>Kalyani Borkar | PRN 23070521036 | T3366 CA3        4</a:t>
            </a:r>
            <a:endParaRPr lang="en-US" sz="900" dirty="0"/>
          </a:p>
        </p:txBody>
      </p:sp>
      <p:sp>
        <p:nvSpPr>
          <p:cNvPr id="5" name="Text 3"/>
          <p:cNvSpPr txBox="1"/>
          <p:nvPr/>
        </p:nvSpPr>
        <p:spPr>
          <a:xfrm>
            <a:off x="457200" y="1005840"/>
            <a:ext cx="3931920" cy="365760"/>
          </a:xfrm>
          <a:prstGeom prst="rect">
            <a:avLst/>
          </a:prstGeom>
          <a:noFill/>
          <a:ln/>
        </p:spPr>
        <p:txBody>
          <a:bodyPr wrap="square" lIns="0" tIns="0" rIns="0" bIns="0" rtlCol="0" anchor="ctr"/>
          <a:lstStyle/>
          <a:p>
            <a:pPr indent="0" marL="0">
              <a:buNone/>
            </a:pPr>
            <a:r>
              <a:rPr lang="en-US" sz="1700" b="1" dirty="0">
                <a:solidFill>
                  <a:srgbClr val="2A9D8F"/>
                </a:solidFill>
                <a:latin typeface="Calibri" pitchFamily="34" charset="0"/>
                <a:ea typeface="Calibri" pitchFamily="34" charset="-122"/>
                <a:cs typeface="Calibri" pitchFamily="34" charset="-120"/>
              </a:rPr>
              <a:t>Stage 2: Preprocessing</a:t>
            </a:r>
            <a:endParaRPr lang="en-US" sz="1700" dirty="0"/>
          </a:p>
        </p:txBody>
      </p:sp>
      <p:sp>
        <p:nvSpPr>
          <p:cNvPr id="6" name="Text 4"/>
          <p:cNvSpPr txBox="1"/>
          <p:nvPr/>
        </p:nvSpPr>
        <p:spPr>
          <a:xfrm>
            <a:off x="457200" y="1417320"/>
            <a:ext cx="3931920" cy="3108960"/>
          </a:xfrm>
          <a:prstGeom prst="rect">
            <a:avLst/>
          </a:prstGeom>
          <a:noFill/>
          <a:ln/>
        </p:spPr>
        <p:txBody>
          <a:bodyPr wrap="square" lIns="0" tIns="0" rIns="0" bIns="0" rtlCol="0" anchor="t"/>
          <a:lstStyle/>
          <a:p>
            <a:pPr marL="342900" indent="-342900">
              <a:spcAft>
                <a:spcPts val="800"/>
              </a:spcAft>
              <a:buSzPct val="100000"/>
              <a:buChar char="•"/>
            </a:pPr>
            <a:r>
              <a:rPr lang="en-US" dirty="0">
                <a:solidFill>
                  <a:srgbClr val="22313F"/>
                </a:solidFill>
                <a:latin typeface="Calibri" pitchFamily="34" charset="0"/>
                <a:ea typeface="Calibri" pitchFamily="34" charset="-122"/>
                <a:cs typeface="Calibri" pitchFamily="34" charset="-120"/>
              </a:rPr>
              <a:t>About 2% values were missing, so I filled them with the median.</a:t>
            </a:r>
            <a:endParaRPr lang="en-US" dirty="0"/>
          </a:p>
          <a:p>
            <a:pPr marL="342900" indent="-342900">
              <a:spcAft>
                <a:spcPts val="800"/>
              </a:spcAft>
              <a:buSzPct val="100000"/>
              <a:buChar char="•"/>
            </a:pPr>
            <a:r>
              <a:rPr lang="en-US" dirty="0">
                <a:solidFill>
                  <a:srgbClr val="22313F"/>
                </a:solidFill>
                <a:latin typeface="Calibri" pitchFamily="34" charset="0"/>
                <a:ea typeface="Calibri" pitchFamily="34" charset="-122"/>
                <a:cs typeface="Calibri" pitchFamily="34" charset="-120"/>
              </a:rPr>
              <a:t>Outliers found with the IQR rule: anything below Q1 - 1.5 x IQR or above Q3 + 1.5 x IQR.</a:t>
            </a:r>
            <a:endParaRPr lang="en-US" dirty="0"/>
          </a:p>
          <a:p>
            <a:pPr marL="342900" indent="-342900">
              <a:spcAft>
                <a:spcPts val="800"/>
              </a:spcAft>
              <a:buSzPct val="100000"/>
              <a:buChar char="•"/>
            </a:pPr>
            <a:r>
              <a:rPr lang="en-US" dirty="0">
                <a:solidFill>
                  <a:srgbClr val="22313F"/>
                </a:solidFill>
                <a:latin typeface="Calibri" pitchFamily="34" charset="0"/>
                <a:ea typeface="Calibri" pitchFamily="34" charset="-122"/>
                <a:cs typeface="Calibri" pitchFamily="34" charset="-120"/>
              </a:rPr>
              <a:t>I capped those values at the limit instead of deleting rows, so all 1,000 records stay.</a:t>
            </a:r>
            <a:endParaRPr lang="en-US" dirty="0"/>
          </a:p>
        </p:txBody>
      </p:sp>
      <p:sp>
        <p:nvSpPr>
          <p:cNvPr id="7" name="Text 5"/>
          <p:cNvSpPr txBox="1"/>
          <p:nvPr/>
        </p:nvSpPr>
        <p:spPr>
          <a:xfrm>
            <a:off x="4754880" y="1005840"/>
            <a:ext cx="3931920" cy="365760"/>
          </a:xfrm>
          <a:prstGeom prst="rect">
            <a:avLst/>
          </a:prstGeom>
          <a:noFill/>
          <a:ln/>
        </p:spPr>
        <p:txBody>
          <a:bodyPr wrap="square" lIns="0" tIns="0" rIns="0" bIns="0" rtlCol="0" anchor="ctr"/>
          <a:lstStyle/>
          <a:p>
            <a:pPr indent="0" marL="0">
              <a:buNone/>
            </a:pPr>
            <a:r>
              <a:rPr lang="en-US" sz="1700" b="1" dirty="0">
                <a:solidFill>
                  <a:srgbClr val="2A9D8F"/>
                </a:solidFill>
                <a:latin typeface="Calibri" pitchFamily="34" charset="0"/>
                <a:ea typeface="Calibri" pitchFamily="34" charset="-122"/>
                <a:cs typeface="Calibri" pitchFamily="34" charset="-120"/>
              </a:rPr>
              <a:t>Stage 3: Transformation</a:t>
            </a:r>
            <a:endParaRPr lang="en-US" sz="1700" dirty="0"/>
          </a:p>
        </p:txBody>
      </p:sp>
      <p:sp>
        <p:nvSpPr>
          <p:cNvPr id="8" name="Text 6"/>
          <p:cNvSpPr txBox="1"/>
          <p:nvPr/>
        </p:nvSpPr>
        <p:spPr>
          <a:xfrm>
            <a:off x="4754880" y="1417320"/>
            <a:ext cx="3931920" cy="3200400"/>
          </a:xfrm>
          <a:prstGeom prst="rect">
            <a:avLst/>
          </a:prstGeom>
          <a:noFill/>
          <a:ln/>
        </p:spPr>
        <p:txBody>
          <a:bodyPr wrap="square" lIns="0" tIns="0" rIns="0" bIns="0" rtlCol="0" anchor="t"/>
          <a:lstStyle/>
          <a:p>
            <a:pPr marL="342900" indent="-342900">
              <a:spcAft>
                <a:spcPts val="800"/>
              </a:spcAft>
              <a:buSzPct val="100000"/>
              <a:buChar char="•"/>
            </a:pPr>
            <a:r>
              <a:rPr lang="en-US" dirty="0">
                <a:solidFill>
                  <a:srgbClr val="22313F"/>
                </a:solidFill>
                <a:latin typeface="Calibri" pitchFamily="34" charset="0"/>
                <a:ea typeface="Calibri" pitchFamily="34" charset="-122"/>
                <a:cs typeface="Calibri" pitchFamily="34" charset="-120"/>
              </a:rPr>
              <a:t>80% training, 20% testing, with random_state = 42 so results can be repeated.</a:t>
            </a:r>
            <a:endParaRPr lang="en-US" dirty="0"/>
          </a:p>
          <a:p>
            <a:pPr marL="342900" indent="-342900">
              <a:spcAft>
                <a:spcPts val="800"/>
              </a:spcAft>
              <a:buSzPct val="100000"/>
              <a:buChar char="•"/>
            </a:pPr>
            <a:r>
              <a:rPr lang="en-US" dirty="0">
                <a:solidFill>
                  <a:srgbClr val="22313F"/>
                </a:solidFill>
                <a:latin typeface="Calibri" pitchFamily="34" charset="0"/>
                <a:ea typeface="Calibri" pitchFamily="34" charset="-122"/>
                <a:cs typeface="Calibri" pitchFamily="34" charset="-120"/>
              </a:rPr>
              <a:t>StandardScaler converts each feature to mean 0 and spread 1.</a:t>
            </a:r>
            <a:endParaRPr lang="en-US" dirty="0"/>
          </a:p>
          <a:p>
            <a:pPr marL="342900" indent="-342900">
              <a:spcAft>
                <a:spcPts val="800"/>
              </a:spcAft>
              <a:buSzPct val="100000"/>
              <a:buChar char="•"/>
            </a:pPr>
            <a:r>
              <a:rPr lang="en-US" dirty="0">
                <a:solidFill>
                  <a:srgbClr val="22313F"/>
                </a:solidFill>
                <a:latin typeface="Calibri" pitchFamily="34" charset="0"/>
                <a:ea typeface="Calibri" pitchFamily="34" charset="-122"/>
                <a:cs typeface="Calibri" pitchFamily="34" charset="-120"/>
              </a:rPr>
              <a:t>The scaler learns only from training data, so nothing leaks from the test set.</a:t>
            </a:r>
            <a:endParaRPr lang="en-US" dirty="0"/>
          </a:p>
          <a:p>
            <a:pPr marL="342900" indent="-342900">
              <a:spcAft>
                <a:spcPts val="800"/>
              </a:spcAft>
              <a:buSzPct val="100000"/>
              <a:buChar char="•"/>
            </a:pPr>
            <a:r>
              <a:rPr lang="en-US" dirty="0">
                <a:solidFill>
                  <a:srgbClr val="22313F"/>
                </a:solidFill>
                <a:latin typeface="Calibri" pitchFamily="34" charset="0"/>
                <a:ea typeface="Calibri" pitchFamily="34" charset="-122"/>
                <a:cs typeface="Calibri" pitchFamily="34" charset="-120"/>
              </a:rPr>
              <a:t>Scaling is a must for distance-based methods like k-NN, because big-range features such as attendance would dominate the distance.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A9D8F"/>
          </a:solidFill>
          <a:ln w="12700">
            <a:solidFill>
              <a:srgbClr val="2A9D8F"/>
            </a:solidFill>
            <a:prstDash val="solid"/>
          </a:ln>
        </p:spPr>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The two models I compared</a:t>
            </a:r>
            <a:endParaRPr lang="en-US" sz="2600" dirty="0"/>
          </a:p>
        </p:txBody>
      </p:sp>
      <p:sp>
        <p:nvSpPr>
          <p:cNvPr id="4" name="Text 2"/>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5B6B7A"/>
                </a:solidFill>
                <a:latin typeface="Calibri" pitchFamily="34" charset="0"/>
                <a:ea typeface="Calibri" pitchFamily="34" charset="-122"/>
                <a:cs typeface="Calibri" pitchFamily="34" charset="-120"/>
              </a:rPr>
              <a:t>Kalyani Borkar | PRN 23070521036 | T3366 CA3        5</a:t>
            </a:r>
            <a:endParaRPr lang="en-US" sz="900" dirty="0"/>
          </a:p>
        </p:txBody>
      </p:sp>
      <p:sp>
        <p:nvSpPr>
          <p:cNvPr id="5" name="Shape 3"/>
          <p:cNvSpPr/>
          <p:nvPr/>
        </p:nvSpPr>
        <p:spPr>
          <a:xfrm>
            <a:off x="457200" y="1051560"/>
            <a:ext cx="3977640" cy="685800"/>
          </a:xfrm>
          <a:prstGeom prst="rect">
            <a:avLst/>
          </a:prstGeom>
          <a:solidFill>
            <a:srgbClr val="1F3A5F"/>
          </a:solidFill>
          <a:ln w="12700">
            <a:solidFill>
              <a:srgbClr val="1F3A5F"/>
            </a:solidFill>
            <a:prstDash val="solid"/>
          </a:ln>
        </p:spPr>
      </p:sp>
      <p:sp>
        <p:nvSpPr>
          <p:cNvPr id="6" name="Text 4"/>
          <p:cNvSpPr txBox="1"/>
          <p:nvPr/>
        </p:nvSpPr>
        <p:spPr>
          <a:xfrm>
            <a:off x="594360" y="1051560"/>
            <a:ext cx="3749040"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Linear Regression (OLS)</a:t>
            </a:r>
            <a:endParaRPr lang="en-US" sz="1700" dirty="0"/>
          </a:p>
          <a:p>
            <a:pPr indent="0" marL="0">
              <a:buNone/>
            </a:pPr>
            <a:r>
              <a:rPr lang="en-US" sz="1200" dirty="0">
                <a:solidFill>
                  <a:srgbClr val="FFFFFF"/>
                </a:solidFill>
                <a:latin typeface="Calibri" pitchFamily="34" charset="0"/>
                <a:ea typeface="Calibri" pitchFamily="34" charset="-122"/>
                <a:cs typeface="Calibri" pitchFamily="34" charset="-120"/>
              </a:rPr>
              <a:t>The baseline</a:t>
            </a:r>
            <a:endParaRPr lang="en-US" sz="1700" dirty="0"/>
          </a:p>
        </p:txBody>
      </p:sp>
      <p:sp>
        <p:nvSpPr>
          <p:cNvPr id="7" name="Text 5"/>
          <p:cNvSpPr txBox="1"/>
          <p:nvPr/>
        </p:nvSpPr>
        <p:spPr>
          <a:xfrm>
            <a:off x="548640" y="1920240"/>
            <a:ext cx="3794760" cy="1828800"/>
          </a:xfrm>
          <a:prstGeom prst="rect">
            <a:avLst/>
          </a:prstGeom>
          <a:noFill/>
          <a:ln/>
        </p:spPr>
        <p:txBody>
          <a:bodyPr wrap="square" lIns="0" tIns="0" rIns="0" bIns="0" rtlCol="0" anchor="t"/>
          <a:lstStyle/>
          <a:p>
            <a:pPr marL="342900" indent="-342900">
              <a:spcAft>
                <a:spcPts val="800"/>
              </a:spcAft>
              <a:buSzPct val="100000"/>
              <a:buChar char="•"/>
            </a:pPr>
            <a:r>
              <a:rPr lang="en-US" dirty="0">
                <a:solidFill>
                  <a:srgbClr val="22313F"/>
                </a:solidFill>
                <a:latin typeface="Calibri" pitchFamily="34" charset="0"/>
                <a:ea typeface="Calibri" pitchFamily="34" charset="-122"/>
                <a:cs typeface="Calibri" pitchFamily="34" charset="-120"/>
              </a:rPr>
              <a:t>Fits one straight-line equation through the data</a:t>
            </a:r>
            <a:endParaRPr lang="en-US" dirty="0"/>
          </a:p>
          <a:p>
            <a:pPr marL="342900" indent="-342900">
              <a:spcAft>
                <a:spcPts val="800"/>
              </a:spcAft>
              <a:buSzPct val="100000"/>
              <a:buChar char="•"/>
            </a:pPr>
            <a:r>
              <a:rPr lang="en-US" dirty="0">
                <a:solidFill>
                  <a:srgbClr val="22313F"/>
                </a:solidFill>
                <a:latin typeface="Calibri" pitchFamily="34" charset="0"/>
                <a:ea typeface="Calibri" pitchFamily="34" charset="-122"/>
                <a:cs typeface="Calibri" pitchFamily="34" charset="-120"/>
              </a:rPr>
              <a:t>Easy to explain: each coefficient shows the effect of one habit</a:t>
            </a:r>
            <a:endParaRPr lang="en-US" dirty="0"/>
          </a:p>
          <a:p>
            <a:pPr marL="342900" indent="-342900">
              <a:spcAft>
                <a:spcPts val="800"/>
              </a:spcAft>
              <a:buSzPct val="100000"/>
              <a:buChar char="•"/>
            </a:pPr>
            <a:r>
              <a:rPr lang="en-US" dirty="0">
                <a:solidFill>
                  <a:srgbClr val="22313F"/>
                </a:solidFill>
                <a:latin typeface="Calibri" pitchFamily="34" charset="0"/>
                <a:ea typeface="Calibri" pitchFamily="34" charset="-122"/>
                <a:cs typeface="Calibri" pitchFamily="34" charset="-120"/>
              </a:rPr>
              <a:t>Fast, but cannot capture curves on its own</a:t>
            </a:r>
            <a:endParaRPr lang="en-US" dirty="0"/>
          </a:p>
        </p:txBody>
      </p:sp>
      <p:sp>
        <p:nvSpPr>
          <p:cNvPr id="8" name="Shape 6"/>
          <p:cNvSpPr/>
          <p:nvPr/>
        </p:nvSpPr>
        <p:spPr>
          <a:xfrm>
            <a:off x="4709160" y="1051560"/>
            <a:ext cx="3977640" cy="685800"/>
          </a:xfrm>
          <a:prstGeom prst="rect">
            <a:avLst/>
          </a:prstGeom>
          <a:solidFill>
            <a:srgbClr val="2A9D8F"/>
          </a:solidFill>
          <a:ln w="12700">
            <a:solidFill>
              <a:srgbClr val="2A9D8F"/>
            </a:solidFill>
            <a:prstDash val="solid"/>
          </a:ln>
        </p:spPr>
      </p:sp>
      <p:sp>
        <p:nvSpPr>
          <p:cNvPr id="9" name="Text 7"/>
          <p:cNvSpPr txBox="1"/>
          <p:nvPr/>
        </p:nvSpPr>
        <p:spPr>
          <a:xfrm>
            <a:off x="4846320" y="1051560"/>
            <a:ext cx="3749040"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Random Forest</a:t>
            </a:r>
            <a:endParaRPr lang="en-US" sz="1700" dirty="0"/>
          </a:p>
          <a:p>
            <a:pPr indent="0" marL="0">
              <a:buNone/>
            </a:pPr>
            <a:r>
              <a:rPr lang="en-US" sz="1200" dirty="0">
                <a:solidFill>
                  <a:srgbClr val="FFFFFF"/>
                </a:solidFill>
                <a:latin typeface="Calibri" pitchFamily="34" charset="0"/>
                <a:ea typeface="Calibri" pitchFamily="34" charset="-122"/>
                <a:cs typeface="Calibri" pitchFamily="34" charset="-120"/>
              </a:rPr>
              <a:t>The ensemble</a:t>
            </a:r>
            <a:endParaRPr lang="en-US" sz="1700" dirty="0"/>
          </a:p>
        </p:txBody>
      </p:sp>
      <p:sp>
        <p:nvSpPr>
          <p:cNvPr id="10" name="Text 8"/>
          <p:cNvSpPr txBox="1"/>
          <p:nvPr/>
        </p:nvSpPr>
        <p:spPr>
          <a:xfrm>
            <a:off x="4800600" y="1920240"/>
            <a:ext cx="3794760" cy="1828800"/>
          </a:xfrm>
          <a:prstGeom prst="rect">
            <a:avLst/>
          </a:prstGeom>
          <a:noFill/>
          <a:ln/>
        </p:spPr>
        <p:txBody>
          <a:bodyPr wrap="square" lIns="0" tIns="0" rIns="0" bIns="0" rtlCol="0" anchor="t"/>
          <a:lstStyle/>
          <a:p>
            <a:pPr marL="342900" indent="-342900">
              <a:spcAft>
                <a:spcPts val="800"/>
              </a:spcAft>
              <a:buSzPct val="100000"/>
              <a:buChar char="•"/>
            </a:pPr>
            <a:r>
              <a:rPr lang="en-US" dirty="0">
                <a:solidFill>
                  <a:srgbClr val="22313F"/>
                </a:solidFill>
                <a:latin typeface="Calibri" pitchFamily="34" charset="0"/>
                <a:ea typeface="Calibri" pitchFamily="34" charset="-122"/>
                <a:cs typeface="Calibri" pitchFamily="34" charset="-120"/>
              </a:rPr>
              <a:t>100 decision trees, each trained on a random sample (bagging)</a:t>
            </a:r>
            <a:endParaRPr lang="en-US" dirty="0"/>
          </a:p>
          <a:p>
            <a:pPr marL="342900" indent="-342900">
              <a:spcAft>
                <a:spcPts val="800"/>
              </a:spcAft>
              <a:buSzPct val="100000"/>
              <a:buChar char="•"/>
            </a:pPr>
            <a:r>
              <a:rPr lang="en-US" dirty="0">
                <a:solidFill>
                  <a:srgbClr val="22313F"/>
                </a:solidFill>
                <a:latin typeface="Calibri" pitchFamily="34" charset="0"/>
                <a:ea typeface="Calibri" pitchFamily="34" charset="-122"/>
                <a:cs typeface="Calibri" pitchFamily="34" charset="-120"/>
              </a:rPr>
              <a:t>The final answer is the average of all trees</a:t>
            </a:r>
            <a:endParaRPr lang="en-US" dirty="0"/>
          </a:p>
          <a:p>
            <a:pPr marL="342900" indent="-342900">
              <a:spcAft>
                <a:spcPts val="800"/>
              </a:spcAft>
              <a:buSzPct val="100000"/>
              <a:buChar char="•"/>
            </a:pPr>
            <a:r>
              <a:rPr lang="en-US" dirty="0">
                <a:solidFill>
                  <a:srgbClr val="22313F"/>
                </a:solidFill>
                <a:latin typeface="Calibri" pitchFamily="34" charset="0"/>
                <a:ea typeface="Calibri" pitchFamily="34" charset="-122"/>
                <a:cs typeface="Calibri" pitchFamily="34" charset="-120"/>
              </a:rPr>
              <a:t>Handles curved patterns and is less likely to overfit than one tree</a:t>
            </a:r>
            <a:endParaRPr lang="en-US" dirty="0"/>
          </a:p>
        </p:txBody>
      </p:sp>
      <p:sp>
        <p:nvSpPr>
          <p:cNvPr id="11" name="Text 9"/>
          <p:cNvSpPr txBox="1"/>
          <p:nvPr/>
        </p:nvSpPr>
        <p:spPr>
          <a:xfrm>
            <a:off x="457200" y="3931920"/>
            <a:ext cx="8229600" cy="640080"/>
          </a:xfrm>
          <a:prstGeom prst="rect">
            <a:avLst/>
          </a:prstGeom>
          <a:noFill/>
          <a:ln/>
        </p:spPr>
        <p:txBody>
          <a:bodyPr wrap="square" lIns="0" tIns="0" rIns="0" bIns="0" rtlCol="0" anchor="ctr"/>
          <a:lstStyle/>
          <a:p>
            <a:pPr indent="0" marL="0">
              <a:buNone/>
            </a:pPr>
            <a:r>
              <a:rPr lang="en-US" sz="1400" i="1" dirty="0">
                <a:solidFill>
                  <a:srgbClr val="5B6B7A"/>
                </a:solidFill>
                <a:latin typeface="Calibri" pitchFamily="34" charset="0"/>
                <a:ea typeface="Calibri" pitchFamily="34" charset="-122"/>
                <a:cs typeface="Calibri" pitchFamily="34" charset="-120"/>
              </a:rPr>
              <a:t>Both were checked with 5-fold cross-validation on the training data, then tested once on the 20% the models had never seen.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A9D8F"/>
          </a:solidFill>
          <a:ln w="12700">
            <a:solidFill>
              <a:srgbClr val="2A9D8F"/>
            </a:solidFill>
            <a:prstDash val="solid"/>
          </a:ln>
        </p:spPr>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Results on the test set</a:t>
            </a:r>
            <a:endParaRPr lang="en-US" sz="2600" dirty="0"/>
          </a:p>
        </p:txBody>
      </p:sp>
      <p:sp>
        <p:nvSpPr>
          <p:cNvPr id="4" name="Text 2"/>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5B6B7A"/>
                </a:solidFill>
                <a:latin typeface="Calibri" pitchFamily="34" charset="0"/>
                <a:ea typeface="Calibri" pitchFamily="34" charset="-122"/>
                <a:cs typeface="Calibri" pitchFamily="34" charset="-120"/>
              </a:rPr>
              <a:t>Kalyani Borkar | PRN 23070521036 | T3366 CA3        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023360" cy="914400"/>
        </p:xfrm>
        <a:graphic>
          <a:graphicData uri="http://schemas.openxmlformats.org/drawingml/2006/table">
            <a:tbl>
              <a:tblPr/>
              <a:tblGrid>
                <a:gridCol w="1554480"/>
                <a:gridCol w="731520"/>
                <a:gridCol w="822960"/>
                <a:gridCol w="914400"/>
              </a:tblGrid>
              <a:tr h="41148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solidFill>
                      <a:srgbClr val="1F3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MAE</a:t>
                      </a:r>
                      <a:endParaRPr lang="en-US" sz="1300" dirty="0">
                        <a:latin typeface="Calibri" charset="0"/>
                        <a:ea typeface="Calibri" charset="0"/>
                        <a:cs typeface="Calibri" charset="0"/>
                      </a:endParaRPr>
                    </a:p>
                  </a:txBody>
                  <a:tcPr marL="91440" marR="91440" marT="45720" marB="45720">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solidFill>
                      <a:srgbClr val="1F3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RMSE</a:t>
                      </a:r>
                      <a:endParaRPr lang="en-US" sz="1300" dirty="0">
                        <a:latin typeface="Calibri" charset="0"/>
                        <a:ea typeface="Calibri" charset="0"/>
                        <a:cs typeface="Calibri" charset="0"/>
                      </a:endParaRPr>
                    </a:p>
                  </a:txBody>
                  <a:tcPr marL="91440" marR="91440" marT="45720" marB="45720">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solidFill>
                      <a:srgbClr val="1F3A5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R2</a:t>
                      </a:r>
                      <a:endParaRPr lang="en-US" sz="1300" dirty="0">
                        <a:latin typeface="Calibri" charset="0"/>
                        <a:ea typeface="Calibri" charset="0"/>
                        <a:cs typeface="Calibri" charset="0"/>
                      </a:endParaRPr>
                    </a:p>
                  </a:txBody>
                  <a:tcPr marL="91440" marR="91440" marT="45720" marB="45720">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solidFill>
                      <a:srgbClr val="1F3A5F"/>
                    </a:solidFill>
                  </a:tcPr>
                </a:tc>
              </a:tr>
              <a:tr h="411480">
                <a:tc>
                  <a:txBody>
                    <a:bodyPr/>
                    <a:lstStyle/>
                    <a:p>
                      <a:pPr algn="ctr" indent="0" marL="0">
                        <a:buNone/>
                      </a:pPr>
                      <a:r>
                        <a:rPr lang="en-US" sz="1300" b="1" dirty="0">
                          <a:solidFill>
                            <a:srgbClr val="22313F"/>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91440" marR="91440" marT="45720" marB="45720">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solidFill>
                      <a:srgbClr val="D8EFEA"/>
                    </a:solidFill>
                  </a:tcPr>
                </a:tc>
                <a:tc>
                  <a:txBody>
                    <a:bodyPr/>
                    <a:lstStyle/>
                    <a:p>
                      <a:pPr algn="ctr" indent="0" marL="0">
                        <a:buNone/>
                      </a:pPr>
                      <a:r>
                        <a:rPr lang="en-US" sz="1300" b="1" dirty="0">
                          <a:solidFill>
                            <a:srgbClr val="22313F"/>
                          </a:solidFill>
                          <a:latin typeface="Calibri" pitchFamily="34" charset="0"/>
                          <a:ea typeface="Calibri" pitchFamily="34" charset="-122"/>
                          <a:cs typeface="Calibri" pitchFamily="34" charset="-120"/>
                        </a:rPr>
                        <a:t>3.967</a:t>
                      </a:r>
                      <a:endParaRPr lang="en-US" sz="1300" dirty="0">
                        <a:latin typeface="Calibri" charset="0"/>
                        <a:ea typeface="Calibri" charset="0"/>
                        <a:cs typeface="Calibri" charset="0"/>
                      </a:endParaRPr>
                    </a:p>
                  </a:txBody>
                  <a:tcPr marL="91440" marR="91440" marT="45720" marB="45720">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solidFill>
                      <a:srgbClr val="D8EFEA"/>
                    </a:solidFill>
                  </a:tcPr>
                </a:tc>
                <a:tc>
                  <a:txBody>
                    <a:bodyPr/>
                    <a:lstStyle/>
                    <a:p>
                      <a:pPr algn="ctr" indent="0" marL="0">
                        <a:buNone/>
                      </a:pPr>
                      <a:r>
                        <a:rPr lang="en-US" sz="1300" b="1" dirty="0">
                          <a:solidFill>
                            <a:srgbClr val="22313F"/>
                          </a:solidFill>
                          <a:latin typeface="Calibri" pitchFamily="34" charset="0"/>
                          <a:ea typeface="Calibri" pitchFamily="34" charset="-122"/>
                          <a:cs typeface="Calibri" pitchFamily="34" charset="-120"/>
                        </a:rPr>
                        <a:t>4.968</a:t>
                      </a:r>
                      <a:endParaRPr lang="en-US" sz="1300" dirty="0">
                        <a:latin typeface="Calibri" charset="0"/>
                        <a:ea typeface="Calibri" charset="0"/>
                        <a:cs typeface="Calibri" charset="0"/>
                      </a:endParaRPr>
                    </a:p>
                  </a:txBody>
                  <a:tcPr marL="91440" marR="91440" marT="45720" marB="45720">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solidFill>
                      <a:srgbClr val="D8EFEA"/>
                    </a:solidFill>
                  </a:tcPr>
                </a:tc>
                <a:tc>
                  <a:txBody>
                    <a:bodyPr/>
                    <a:lstStyle/>
                    <a:p>
                      <a:pPr algn="ctr" indent="0" marL="0">
                        <a:buNone/>
                      </a:pPr>
                      <a:r>
                        <a:rPr lang="en-US" sz="1300" b="1" dirty="0">
                          <a:solidFill>
                            <a:srgbClr val="22313F"/>
                          </a:solidFill>
                          <a:latin typeface="Calibri" pitchFamily="34" charset="0"/>
                          <a:ea typeface="Calibri" pitchFamily="34" charset="-122"/>
                          <a:cs typeface="Calibri" pitchFamily="34" charset="-120"/>
                        </a:rPr>
                        <a:t>0.7853</a:t>
                      </a:r>
                      <a:endParaRPr lang="en-US" sz="1300" dirty="0">
                        <a:latin typeface="Calibri" charset="0"/>
                        <a:ea typeface="Calibri" charset="0"/>
                        <a:cs typeface="Calibri" charset="0"/>
                      </a:endParaRPr>
                    </a:p>
                  </a:txBody>
                  <a:tcPr marL="91440" marR="91440" marT="45720" marB="45720">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solidFill>
                      <a:srgbClr val="D8EFEA"/>
                    </a:solidFill>
                  </a:tcPr>
                </a:tc>
              </a:tr>
              <a:tr h="411480">
                <a:tc>
                  <a:txBody>
                    <a:bodyPr/>
                    <a:lstStyle/>
                    <a:p>
                      <a:pPr algn="ctr" indent="0" marL="0">
                        <a:buNone/>
                      </a:pPr>
                      <a:r>
                        <a:rPr lang="en-US" sz="1300" dirty="0">
                          <a:solidFill>
                            <a:srgbClr val="22313F"/>
                          </a:solidFill>
                          <a:latin typeface="Calibri" pitchFamily="34" charset="0"/>
                          <a:ea typeface="Calibri" pitchFamily="34" charset="-122"/>
                          <a:cs typeface="Calibri" pitchFamily="34" charset="-120"/>
                        </a:rPr>
                        <a:t>Linear Regression</a:t>
                      </a:r>
                      <a:endParaRPr lang="en-US" sz="1300" dirty="0">
                        <a:latin typeface="Calibri" charset="0"/>
                        <a:ea typeface="Calibri" charset="0"/>
                        <a:cs typeface="Calibri" charset="0"/>
                      </a:endParaRPr>
                    </a:p>
                  </a:txBody>
                  <a:tcPr marL="91440" marR="91440" marT="45720" marB="45720">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313F"/>
                          </a:solidFill>
                          <a:latin typeface="Calibri" pitchFamily="34" charset="0"/>
                          <a:ea typeface="Calibri" pitchFamily="34" charset="-122"/>
                          <a:cs typeface="Calibri" pitchFamily="34" charset="-120"/>
                        </a:rPr>
                        <a:t>3.818</a:t>
                      </a:r>
                      <a:endParaRPr lang="en-US" sz="1300" dirty="0">
                        <a:latin typeface="Calibri" charset="0"/>
                        <a:ea typeface="Calibri" charset="0"/>
                        <a:cs typeface="Calibri" charset="0"/>
                      </a:endParaRPr>
                    </a:p>
                  </a:txBody>
                  <a:tcPr marL="91440" marR="91440" marT="45720" marB="45720">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313F"/>
                          </a:solidFill>
                          <a:latin typeface="Calibri" pitchFamily="34" charset="0"/>
                          <a:ea typeface="Calibri" pitchFamily="34" charset="-122"/>
                          <a:cs typeface="Calibri" pitchFamily="34" charset="-120"/>
                        </a:rPr>
                        <a:t>4.988</a:t>
                      </a:r>
                      <a:endParaRPr lang="en-US" sz="1300" dirty="0">
                        <a:latin typeface="Calibri" charset="0"/>
                        <a:ea typeface="Calibri" charset="0"/>
                        <a:cs typeface="Calibri" charset="0"/>
                      </a:endParaRPr>
                    </a:p>
                  </a:txBody>
                  <a:tcPr marL="91440" marR="91440" marT="45720" marB="45720">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313F"/>
                          </a:solidFill>
                          <a:latin typeface="Calibri" pitchFamily="34" charset="0"/>
                          <a:ea typeface="Calibri" pitchFamily="34" charset="-122"/>
                          <a:cs typeface="Calibri" pitchFamily="34" charset="-120"/>
                        </a:rPr>
                        <a:t>0.7835</a:t>
                      </a:r>
                      <a:endParaRPr lang="en-US" sz="1300" dirty="0">
                        <a:latin typeface="Calibri" charset="0"/>
                        <a:ea typeface="Calibri" charset="0"/>
                        <a:cs typeface="Calibri" charset="0"/>
                      </a:endParaRPr>
                    </a:p>
                  </a:txBody>
                  <a:tcPr marL="91440" marR="91440" marT="45720" marB="45720">
                    <a:lnL w="12700" cap="flat" cmpd="sng" algn="ctr">
                      <a:solidFill>
                        <a:srgbClr val="C9D6DE"/>
                      </a:solidFill>
                      <a:prstDash val="solid"/>
                      <a:round/>
                      <a:headEnd type="none" w="med" len="med"/>
                      <a:tailEnd type="none" w="med" len="med"/>
                    </a:lnL>
                    <a:lnR w="12700" cap="flat" cmpd="sng" algn="ctr">
                      <a:solidFill>
                        <a:srgbClr val="C9D6DE"/>
                      </a:solidFill>
                      <a:prstDash val="solid"/>
                      <a:round/>
                      <a:headEnd type="none" w="med" len="med"/>
                      <a:tailEnd type="none" w="med" len="med"/>
                    </a:lnR>
                    <a:lnT w="12700" cap="flat" cmpd="sng" algn="ctr">
                      <a:solidFill>
                        <a:srgbClr val="C9D6DE"/>
                      </a:solidFill>
                      <a:prstDash val="solid"/>
                      <a:round/>
                      <a:headEnd type="none" w="med" len="med"/>
                      <a:tailEnd type="none" w="med" len="med"/>
                    </a:lnT>
                    <a:lnB w="12700" cap="flat" cmpd="sng" algn="ctr">
                      <a:solidFill>
                        <a:srgbClr val="C9D6DE"/>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2560320"/>
            <a:ext cx="4023360" cy="2103120"/>
          </a:xfrm>
          <a:prstGeom prst="rect">
            <a:avLst/>
          </a:prstGeom>
          <a:noFill/>
          <a:ln/>
        </p:spPr>
        <p:txBody>
          <a:bodyPr wrap="square" lIns="0" tIns="0" rIns="0" bIns="0" rtlCol="0" anchor="t"/>
          <a:lstStyle/>
          <a:p>
            <a:pPr marL="342900" indent="-342900">
              <a:spcAft>
                <a:spcPts val="800"/>
              </a:spcAft>
              <a:buSzPct val="100000"/>
              <a:buChar char="•"/>
            </a:pPr>
            <a:r>
              <a:rPr lang="en-US" dirty="0">
                <a:solidFill>
                  <a:srgbClr val="22313F"/>
                </a:solidFill>
                <a:latin typeface="Calibri" pitchFamily="34" charset="0"/>
                <a:ea typeface="Calibri" pitchFamily="34" charset="-122"/>
                <a:cs typeface="Calibri" pitchFamily="34" charset="-120"/>
              </a:rPr>
              <a:t>Random Forest is slightly ahead on R2 and RMSE.</a:t>
            </a:r>
            <a:endParaRPr lang="en-US" dirty="0"/>
          </a:p>
          <a:p>
            <a:pPr marL="342900" indent="-342900">
              <a:spcAft>
                <a:spcPts val="800"/>
              </a:spcAft>
              <a:buSzPct val="100000"/>
              <a:buChar char="•"/>
            </a:pPr>
            <a:r>
              <a:rPr lang="en-US" dirty="0">
                <a:solidFill>
                  <a:srgbClr val="22313F"/>
                </a:solidFill>
                <a:latin typeface="Calibri" pitchFamily="34" charset="0"/>
                <a:ea typeface="Calibri" pitchFamily="34" charset="-122"/>
                <a:cs typeface="Calibri" pitchFamily="34" charset="-120"/>
              </a:rPr>
              <a:t>OLS has a slightly lower MAE.</a:t>
            </a:r>
            <a:endParaRPr lang="en-US" dirty="0"/>
          </a:p>
          <a:p>
            <a:pPr marL="342900" indent="-342900">
              <a:spcAft>
                <a:spcPts val="800"/>
              </a:spcAft>
              <a:buSzPct val="100000"/>
              <a:buChar char="•"/>
            </a:pPr>
            <a:r>
              <a:rPr lang="en-US" dirty="0">
                <a:solidFill>
                  <a:srgbClr val="22313F"/>
                </a:solidFill>
                <a:latin typeface="Calibri" pitchFamily="34" charset="0"/>
                <a:ea typeface="Calibri" pitchFamily="34" charset="-122"/>
                <a:cs typeface="Calibri" pitchFamily="34" charset="-120"/>
              </a:rPr>
              <a:t>Both explain about 78% of the variation in scores. An error of about 4 marks out of 100 is small.</a:t>
            </a:r>
            <a:endParaRPr lang="en-US" dirty="0"/>
          </a:p>
        </p:txBody>
      </p:sp>
      <p:pic>
        <p:nvPicPr>
          <p:cNvPr id="7" name="Image 0" descr="img/bar.png">    </p:cNvPr>
          <p:cNvPicPr>
            <a:picLocks noChangeAspect="1"/>
          </p:cNvPicPr>
          <p:nvPr/>
        </p:nvPicPr>
        <p:blipFill>
          <a:blip r:embed="rId1"/>
          <a:stretch>
            <a:fillRect/>
          </a:stretch>
        </p:blipFill>
        <p:spPr>
          <a:xfrm>
            <a:off x="4663440" y="1280160"/>
            <a:ext cx="4114800" cy="2157984"/>
          </a:xfrm>
          <a:prstGeom prst="rect">
            <a:avLst/>
          </a:prstGeom>
        </p:spPr>
      </p:pic>
      <p:sp>
        <p:nvSpPr>
          <p:cNvPr id="8" name="Text 4"/>
          <p:cNvSpPr txBox="1"/>
          <p:nvPr/>
        </p:nvSpPr>
        <p:spPr>
          <a:xfrm>
            <a:off x="4663440" y="3520440"/>
            <a:ext cx="4114800" cy="274320"/>
          </a:xfrm>
          <a:prstGeom prst="rect">
            <a:avLst/>
          </a:prstGeom>
          <a:noFill/>
          <a:ln/>
        </p:spPr>
        <p:txBody>
          <a:bodyPr wrap="square" lIns="0" tIns="0" rIns="0" bIns="0" rtlCol="0" anchor="ctr"/>
          <a:lstStyle/>
          <a:p>
            <a:pPr algn="ctr" indent="0" marL="0">
              <a:buNone/>
            </a:pPr>
            <a:r>
              <a:rPr lang="en-US" sz="1100" dirty="0">
                <a:solidFill>
                  <a:srgbClr val="5B6B7A"/>
                </a:solidFill>
                <a:latin typeface="Calibri" pitchFamily="34" charset="0"/>
                <a:ea typeface="Calibri" pitchFamily="34" charset="-122"/>
                <a:cs typeface="Calibri" pitchFamily="34" charset="-120"/>
              </a:rPr>
              <a:t>R2 on test data, winner highlighted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A9D8F"/>
          </a:solidFill>
          <a:ln w="12700">
            <a:solidFill>
              <a:srgbClr val="2A9D8F"/>
            </a:solidFill>
            <a:prstDash val="solid"/>
          </a:ln>
        </p:spPr>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Checking the errors and conclusion</a:t>
            </a:r>
            <a:endParaRPr lang="en-US" sz="2600" dirty="0"/>
          </a:p>
        </p:txBody>
      </p:sp>
      <p:sp>
        <p:nvSpPr>
          <p:cNvPr id="4" name="Text 2"/>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5B6B7A"/>
                </a:solidFill>
                <a:latin typeface="Calibri" pitchFamily="34" charset="0"/>
                <a:ea typeface="Calibri" pitchFamily="34" charset="-122"/>
                <a:cs typeface="Calibri" pitchFamily="34" charset="-120"/>
              </a:rPr>
              <a:t>Kalyani Borkar | PRN 23070521036 | T3366 CA3        7</a:t>
            </a:r>
            <a:endParaRPr lang="en-US" sz="900" dirty="0"/>
          </a:p>
        </p:txBody>
      </p:sp>
      <p:pic>
        <p:nvPicPr>
          <p:cNvPr id="5" name="Image 0" descr="img/resid.png">    </p:cNvPr>
          <p:cNvPicPr>
            <a:picLocks noChangeAspect="1"/>
          </p:cNvPicPr>
          <p:nvPr/>
        </p:nvPicPr>
        <p:blipFill>
          <a:blip r:embed="rId1"/>
          <a:stretch>
            <a:fillRect/>
          </a:stretch>
        </p:blipFill>
        <p:spPr>
          <a:xfrm>
            <a:off x="457200" y="1051560"/>
            <a:ext cx="4846320" cy="1746504"/>
          </a:xfrm>
          <a:prstGeom prst="rect">
            <a:avLst/>
          </a:prstGeom>
        </p:spPr>
      </p:pic>
      <p:sp>
        <p:nvSpPr>
          <p:cNvPr id="6" name="Text 3"/>
          <p:cNvSpPr txBox="1"/>
          <p:nvPr/>
        </p:nvSpPr>
        <p:spPr>
          <a:xfrm>
            <a:off x="457200" y="2926080"/>
            <a:ext cx="4846320" cy="1188720"/>
          </a:xfrm>
          <a:prstGeom prst="rect">
            <a:avLst/>
          </a:prstGeom>
          <a:noFill/>
          <a:ln/>
        </p:spPr>
        <p:txBody>
          <a:bodyPr wrap="square" lIns="0" tIns="0" rIns="0" bIns="0" rtlCol="0" anchor="t"/>
          <a:lstStyle/>
          <a:p>
            <a:pPr indent="0" marL="0">
              <a:buNone/>
            </a:pPr>
            <a:r>
              <a:rPr lang="en-US" sz="1300" dirty="0">
                <a:solidFill>
                  <a:srgbClr val="22313F"/>
                </a:solidFill>
                <a:latin typeface="Calibri" pitchFamily="34" charset="0"/>
                <a:ea typeface="Calibri" pitchFamily="34" charset="-122"/>
                <a:cs typeface="Calibri" pitchFamily="34" charset="-120"/>
              </a:rPr>
              <a:t>Residual = actual - predicted. The points form a flat band around zero with no funnel shape, so the error size stays steady across predictions (homoscedasticity).</a:t>
            </a:r>
            <a:endParaRPr lang="en-US" sz="1300" dirty="0"/>
          </a:p>
        </p:txBody>
      </p:sp>
      <p:sp>
        <p:nvSpPr>
          <p:cNvPr id="7" name="Shape 4"/>
          <p:cNvSpPr/>
          <p:nvPr/>
        </p:nvSpPr>
        <p:spPr>
          <a:xfrm>
            <a:off x="5577840" y="1051560"/>
            <a:ext cx="3108960" cy="3429000"/>
          </a:xfrm>
          <a:prstGeom prst="rect">
            <a:avLst/>
          </a:prstGeom>
          <a:solidFill>
            <a:srgbClr val="EEF3F6"/>
          </a:solidFill>
          <a:ln w="12700">
            <a:solidFill>
              <a:srgbClr val="EEF3F6"/>
            </a:solidFill>
            <a:prstDash val="solid"/>
          </a:ln>
        </p:spPr>
      </p:sp>
      <p:sp>
        <p:nvSpPr>
          <p:cNvPr id="8" name="Text 5"/>
          <p:cNvSpPr txBox="1"/>
          <p:nvPr/>
        </p:nvSpPr>
        <p:spPr>
          <a:xfrm>
            <a:off x="5715000" y="1143000"/>
            <a:ext cx="2834640" cy="3246120"/>
          </a:xfrm>
          <a:prstGeom prst="rect">
            <a:avLst/>
          </a:prstGeom>
          <a:noFill/>
          <a:ln/>
        </p:spPr>
        <p:txBody>
          <a:bodyPr wrap="square" lIns="0" tIns="0" rIns="0" bIns="0" rtlCol="0" anchor="t"/>
          <a:lstStyle/>
          <a:p>
            <a:pPr indent="0" marL="0">
              <a:spcAft>
                <a:spcPts val="600"/>
              </a:spcAft>
              <a:buNone/>
            </a:pPr>
            <a:r>
              <a:rPr lang="en-US" sz="1600" b="1" dirty="0">
                <a:solidFill>
                  <a:srgbClr val="1F3A5F"/>
                </a:solidFill>
                <a:latin typeface="Calibri" pitchFamily="34" charset="0"/>
                <a:ea typeface="Calibri" pitchFamily="34" charset="-122"/>
                <a:cs typeface="Calibri" pitchFamily="34" charset="-120"/>
              </a:rPr>
              <a:t>Conclusion</a:t>
            </a:r>
            <a:endParaRPr lang="en-US" sz="1600" dirty="0"/>
          </a:p>
          <a:p>
            <a:pPr marL="342900" indent="-342900">
              <a:spcAft>
                <a:spcPts val="800"/>
              </a:spcAft>
              <a:buSzPct val="100000"/>
              <a:buChar char="•"/>
            </a:pPr>
            <a:r>
              <a:rPr lang="en-US" sz="1600" dirty="0">
                <a:solidFill>
                  <a:srgbClr val="22313F"/>
                </a:solidFill>
                <a:latin typeface="Calibri" pitchFamily="34" charset="0"/>
                <a:ea typeface="Calibri" pitchFamily="34" charset="-122"/>
                <a:cs typeface="Calibri" pitchFamily="34" charset="-120"/>
              </a:rPr>
              <a:t>Random Forest is the best model, R2 = 0.785.</a:t>
            </a:r>
            <a:endParaRPr lang="en-US" sz="1600" dirty="0"/>
          </a:p>
          <a:p>
            <a:pPr marL="342900" indent="-342900">
              <a:spcAft>
                <a:spcPts val="800"/>
              </a:spcAft>
              <a:buSzPct val="100000"/>
              <a:buChar char="•"/>
            </a:pPr>
            <a:r>
              <a:rPr lang="en-US" sz="1600" dirty="0">
                <a:solidFill>
                  <a:srgbClr val="22313F"/>
                </a:solidFill>
                <a:latin typeface="Calibri" pitchFamily="34" charset="0"/>
                <a:ea typeface="Calibri" pitchFamily="34" charset="-122"/>
                <a:cs typeface="Calibri" pitchFamily="34" charset="-120"/>
              </a:rPr>
              <a:t>The model is reliable: errors are centred near zero.</a:t>
            </a:r>
            <a:endParaRPr lang="en-US" sz="1600" dirty="0"/>
          </a:p>
          <a:p>
            <a:pPr marL="342900" indent="-342900">
              <a:spcAft>
                <a:spcPts val="800"/>
              </a:spcAft>
              <a:buSzPct val="100000"/>
              <a:buChar char="•"/>
            </a:pPr>
            <a:r>
              <a:rPr lang="en-US" sz="1600" dirty="0">
                <a:solidFill>
                  <a:srgbClr val="22313F"/>
                </a:solidFill>
                <a:latin typeface="Calibri" pitchFamily="34" charset="0"/>
                <a:ea typeface="Calibri" pitchFamily="34" charset="-122"/>
                <a:cs typeface="Calibri" pitchFamily="34" charset="-120"/>
              </a:rPr>
              <a:t>Limits: data is synthetic, so real data should be tested.</a:t>
            </a:r>
            <a:endParaRPr lang="en-US" sz="1600" dirty="0"/>
          </a:p>
          <a:p>
            <a:pPr marL="342900" indent="-342900">
              <a:spcAft>
                <a:spcPts val="800"/>
              </a:spcAft>
              <a:buSzPct val="100000"/>
              <a:buChar char="•"/>
            </a:pPr>
            <a:r>
              <a:rPr lang="en-US" sz="1600" dirty="0">
                <a:solidFill>
                  <a:srgbClr val="22313F"/>
                </a:solidFill>
                <a:latin typeface="Calibri" pitchFamily="34" charset="0"/>
                <a:ea typeface="Calibri" pitchFamily="34" charset="-122"/>
                <a:cs typeface="Calibri" pitchFamily="34" charset="-120"/>
              </a:rPr>
              <a:t>Next step: tune the models and try real college data.</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Student Performance - KDD</dc:title>
  <dc:subject>PptxGenJS Presentation</dc:subject>
  <dc:creator>Kalyani Eknath Borkar</dc:creator>
  <cp:lastModifiedBy>Kalyani Eknath Borkar</cp:lastModifiedBy>
  <cp:revision>1</cp:revision>
  <dcterms:created xsi:type="dcterms:W3CDTF">2026-10-23T16:44:22Z</dcterms:created>
  <dcterms:modified xsi:type="dcterms:W3CDTF">2026-10-23T16:44:22Z</dcterms:modified>
</cp:coreProperties>
</file>